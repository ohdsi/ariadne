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4216"/>
    <a:srgbClr val="1E425A"/>
    <a:srgbClr val="44728E"/>
    <a:srgbClr val="0C7262"/>
    <a:srgbClr val="0CA18A"/>
    <a:srgbClr val="336B91"/>
    <a:srgbClr val="68AED5"/>
    <a:srgbClr val="EB66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47"/>
    <p:restoredTop sz="94646"/>
  </p:normalViewPr>
  <p:slideViewPr>
    <p:cSldViewPr snapToGrid="0">
      <p:cViewPr varScale="1">
        <p:scale>
          <a:sx n="202" d="100"/>
          <a:sy n="202" d="100"/>
        </p:scale>
        <p:origin x="192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C54E6-2D55-C09C-4F36-49141A7020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97DC1B-52AF-E475-3D8F-B3C94D377A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9B1C8-C1DD-2572-DB41-7179286E1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15799-DC7A-F74A-AB6B-991E43279CA1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2E1CA-2608-BD1D-3475-859B05DDC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6408A0-2266-82EA-0B86-C59F261FF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D17AF-3A78-5941-8FF9-B599921ED6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31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D561C-194D-9235-2F6A-2BBC10601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9D16A-6158-137F-9F5E-445DF34694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9A3A99-10F5-AB5A-CF17-901A5375D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15799-DC7A-F74A-AB6B-991E43279CA1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C8B4A9-F418-CE99-646E-955B4F56D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DE0B00-E4C4-BF83-9BB5-249AE0542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D17AF-3A78-5941-8FF9-B599921ED6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436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4F6C3-EC04-AB68-40AA-001B97DAB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64821B-C200-C26D-EC4F-89DD4AD4CE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35A9A2-B667-55D3-9C10-0221A5F8C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15799-DC7A-F74A-AB6B-991E43279CA1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138773-CB9A-28DA-DFBC-B375DD6DF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7DB1E-F2C8-E697-864A-66211718B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D17AF-3A78-5941-8FF9-B599921ED6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64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4FD3C-8FBB-B89E-1FA7-1645542B1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06D0C-A344-2F18-53F8-AD15F1BAE2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C124E4-5893-9BDB-A397-CE3752C1E5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A38659-FB5A-54D7-600B-0E7D21AD1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15799-DC7A-F74A-AB6B-991E43279CA1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255D39-B710-1A2B-AE87-01AB2110D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81F42C-2930-6B55-2269-937737EEB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D17AF-3A78-5941-8FF9-B599921ED6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326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D6BDF-E8B8-F016-08DE-0C0FD2EB2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628E0F-9BB7-76B0-DB38-2EDA110929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DD8D6B-A5AC-5FB2-C43A-840941A0A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C5DD3C-4E02-CC36-B29E-29727C0EE1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5E9A75-256A-E2CA-1720-D6DD6F17C4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0C771B-C19F-6A6A-F5A7-D25AFEEA8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15799-DC7A-F74A-AB6B-991E43279CA1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D4ED57-54F7-4F52-FF9A-ED4B2917B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16ABDC-9306-82DA-0167-A8BE9C60B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D17AF-3A78-5941-8FF9-B599921ED6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36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406C8-BF67-BF56-6F15-D3A74836B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C195F2-49BD-B55C-745D-A68920066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15799-DC7A-F74A-AB6B-991E43279CA1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9B9262-0D4F-3781-C8BF-8DB3D554A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6FC918-A090-B0D9-2AAF-AD34604A8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D17AF-3A78-5941-8FF9-B599921ED6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737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3C18E2-D939-2E05-F8E7-6E1932FA7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15799-DC7A-F74A-AB6B-991E43279CA1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E1AF19F-5CE8-0257-E403-45FADAEF3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D6A6A-05A1-2CBE-AA53-24D3DA9B3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D17AF-3A78-5941-8FF9-B599921ED6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79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416EC-00B0-7544-17A5-40262691B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BA089-AF49-FA36-1E79-05E60A958E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0BE1AC-D25F-D649-7EF4-97E3F66504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65A95-7458-852E-55B7-4DDB409CE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15799-DC7A-F74A-AB6B-991E43279CA1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443E7C-C90A-72C4-9D93-09F8B3C20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160D0E-6FD1-2153-7D64-C3C1AC198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D17AF-3A78-5941-8FF9-B599921ED6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117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951B9-F628-9DC8-A027-2E103FD7A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9C16AE-3B88-037E-4CA8-C590866641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172C6-8355-4A60-0CB2-159EBB5E24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00259-B65B-925B-8166-8C8168E56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15799-DC7A-F74A-AB6B-991E43279CA1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2CE0C2-45E7-22FD-A7C3-38F4F554F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D8E727-9221-9CDB-47BD-F3F2E478F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D17AF-3A78-5941-8FF9-B599921ED6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349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B0AFD-BF13-74F0-CD9A-4F4FD63E5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E16EC-496A-4503-925B-EC2ACAF054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F0CFC-67CC-C2E9-1982-423A5294B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15799-DC7A-F74A-AB6B-991E43279CA1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25CC4-2FE5-78AD-A1A9-293A5E0C2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E47D8-55BA-D52C-08BD-6DE6715DA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D17AF-3A78-5941-8FF9-B599921ED6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0340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D29715-B590-10B2-E197-8A9B79650A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C4A682-5A17-294F-7420-4D7BF052C5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E1BF1C-2CE0-213A-B99B-D1EE687BF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15799-DC7A-F74A-AB6B-991E43279CA1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89F1FE-A94E-1A90-1165-2D06E681A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95F8EE-F525-8E25-BB8E-68185AA3D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D17AF-3A78-5941-8FF9-B599921ED6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9010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6938DC-849A-431C-97F4-79206FED5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AFF87D-DEDC-342E-685A-B021D4185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23EACE-3283-2136-4D25-949002E8C8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E15799-DC7A-F74A-AB6B-991E43279CA1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A7ED6-943D-8F3B-3876-7F56620981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552DD3-3DAE-1CB1-182A-8E63256CCE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DD17AF-3A78-5941-8FF9-B599921ED6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957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BD02039-B1BA-2D7E-9375-6D479B2367C2}"/>
              </a:ext>
            </a:extLst>
          </p:cNvPr>
          <p:cNvSpPr/>
          <p:nvPr/>
        </p:nvSpPr>
        <p:spPr>
          <a:xfrm>
            <a:off x="3102875" y="2832454"/>
            <a:ext cx="5076275" cy="120981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 b="1" dirty="0">
                <a:solidFill>
                  <a:schemeClr val="tx1"/>
                </a:solidFill>
              </a:rPr>
              <a:t>Embedding vector search</a:t>
            </a:r>
          </a:p>
          <a:p>
            <a:r>
              <a:rPr lang="en-US" sz="1000" dirty="0">
                <a:solidFill>
                  <a:schemeClr val="tx1"/>
                </a:solidFill>
              </a:rPr>
              <a:t>Two implementation are available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B8E45F7-31D5-42DA-60F0-51BDC5B5930E}"/>
              </a:ext>
            </a:extLst>
          </p:cNvPr>
          <p:cNvSpPr/>
          <p:nvPr/>
        </p:nvSpPr>
        <p:spPr>
          <a:xfrm>
            <a:off x="3176236" y="463274"/>
            <a:ext cx="2337907" cy="684689"/>
          </a:xfrm>
          <a:prstGeom prst="roundRect">
            <a:avLst/>
          </a:prstGeom>
          <a:solidFill>
            <a:srgbClr val="68AED5"/>
          </a:solidFill>
          <a:ln>
            <a:solidFill>
              <a:srgbClr val="44728E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 b="1" dirty="0"/>
              <a:t>Source terms</a:t>
            </a:r>
          </a:p>
          <a:p>
            <a:r>
              <a:rPr lang="en-US" sz="1000" dirty="0"/>
              <a:t>In this notebook we use the source terms in the gold standard.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2C4412-280A-5E34-EB46-1E34E3E172BA}"/>
              </a:ext>
            </a:extLst>
          </p:cNvPr>
          <p:cNvSpPr/>
          <p:nvPr/>
        </p:nvSpPr>
        <p:spPr>
          <a:xfrm>
            <a:off x="5755262" y="1010016"/>
            <a:ext cx="2337906" cy="618241"/>
          </a:xfrm>
          <a:prstGeom prst="rect">
            <a:avLst/>
          </a:prstGeom>
          <a:solidFill>
            <a:srgbClr val="336B91"/>
          </a:solidFill>
          <a:ln>
            <a:solidFill>
              <a:srgbClr val="1E42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 b="1" dirty="0"/>
              <a:t>Term cleaning</a:t>
            </a:r>
          </a:p>
          <a:p>
            <a:r>
              <a:rPr lang="en-US" sz="1000" dirty="0"/>
              <a:t>Removes uninformative parts like “not otherwise specified”.</a:t>
            </a:r>
          </a:p>
        </p:txBody>
      </p:sp>
      <p:sp>
        <p:nvSpPr>
          <p:cNvPr id="6" name="Can 5">
            <a:extLst>
              <a:ext uri="{FF2B5EF4-FFF2-40B4-BE49-F238E27FC236}">
                <a16:creationId xmlns:a16="http://schemas.microsoft.com/office/drawing/2014/main" id="{F877E9F2-7AA1-873C-EE8C-29BF0872E6C1}"/>
              </a:ext>
            </a:extLst>
          </p:cNvPr>
          <p:cNvSpPr/>
          <p:nvPr/>
        </p:nvSpPr>
        <p:spPr>
          <a:xfrm>
            <a:off x="963028" y="1800538"/>
            <a:ext cx="1715289" cy="851280"/>
          </a:xfrm>
          <a:prstGeom prst="can">
            <a:avLst/>
          </a:prstGeom>
          <a:solidFill>
            <a:srgbClr val="EB6622"/>
          </a:solidFill>
          <a:ln>
            <a:solidFill>
              <a:srgbClr val="974216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Vocabulary</a:t>
            </a:r>
          </a:p>
          <a:p>
            <a:pPr algn="ctr"/>
            <a:r>
              <a:rPr lang="en-US" sz="1600" dirty="0"/>
              <a:t>Database</a:t>
            </a:r>
          </a:p>
        </p:txBody>
      </p:sp>
      <p:sp>
        <p:nvSpPr>
          <p:cNvPr id="7" name="Terminator 6">
            <a:extLst>
              <a:ext uri="{FF2B5EF4-FFF2-40B4-BE49-F238E27FC236}">
                <a16:creationId xmlns:a16="http://schemas.microsoft.com/office/drawing/2014/main" id="{93703109-1388-3CD9-23D3-558B7BC4AEE0}"/>
              </a:ext>
            </a:extLst>
          </p:cNvPr>
          <p:cNvSpPr/>
          <p:nvPr/>
        </p:nvSpPr>
        <p:spPr>
          <a:xfrm>
            <a:off x="947111" y="1073194"/>
            <a:ext cx="1727900" cy="491884"/>
          </a:xfrm>
          <a:prstGeom prst="flowChartTerminator">
            <a:avLst/>
          </a:prstGeom>
          <a:solidFill>
            <a:srgbClr val="EB6622"/>
          </a:solidFill>
          <a:ln>
            <a:solidFill>
              <a:srgbClr val="974216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LLM (GPT o3)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8508ACDE-139D-FDE1-FE2E-7DAD8498149B}"/>
              </a:ext>
            </a:extLst>
          </p:cNvPr>
          <p:cNvCxnSpPr>
            <a:cxnSpLocks/>
            <a:stCxn id="5" idx="1"/>
            <a:endCxn id="7" idx="3"/>
          </p:cNvCxnSpPr>
          <p:nvPr/>
        </p:nvCxnSpPr>
        <p:spPr>
          <a:xfrm rot="10800000">
            <a:off x="2675012" y="1319137"/>
            <a:ext cx="3080251" cy="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1A357807-65D7-574C-B276-DE507ED74068}"/>
              </a:ext>
            </a:extLst>
          </p:cNvPr>
          <p:cNvSpPr/>
          <p:nvPr/>
        </p:nvSpPr>
        <p:spPr>
          <a:xfrm>
            <a:off x="5755262" y="1825792"/>
            <a:ext cx="2337906" cy="800772"/>
          </a:xfrm>
          <a:prstGeom prst="rect">
            <a:avLst/>
          </a:prstGeom>
          <a:ln>
            <a:solidFill>
              <a:srgbClr val="1E42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 b="1" dirty="0"/>
              <a:t>Verbatim text matching</a:t>
            </a:r>
          </a:p>
          <a:p>
            <a:r>
              <a:rPr lang="en-US" sz="1000" dirty="0"/>
              <a:t>Finds target concepts where the </a:t>
            </a:r>
            <a:r>
              <a:rPr lang="en-US" sz="1000"/>
              <a:t>name or </a:t>
            </a:r>
            <a:r>
              <a:rPr lang="en-US" sz="1000" dirty="0"/>
              <a:t>synonym matches the source term, allowing for some lexical variations.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914F236-BEBB-5468-264E-922BA73D04FA}"/>
              </a:ext>
            </a:extLst>
          </p:cNvPr>
          <p:cNvSpPr/>
          <p:nvPr/>
        </p:nvSpPr>
        <p:spPr>
          <a:xfrm>
            <a:off x="5755262" y="3320393"/>
            <a:ext cx="2337906" cy="630504"/>
          </a:xfrm>
          <a:prstGeom prst="rect">
            <a:avLst/>
          </a:prstGeom>
          <a:solidFill>
            <a:srgbClr val="336B91"/>
          </a:solidFill>
          <a:ln>
            <a:solidFill>
              <a:srgbClr val="1E42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 b="1" dirty="0"/>
              <a:t>OHDSI vector search API</a:t>
            </a:r>
          </a:p>
          <a:p>
            <a:r>
              <a:rPr lang="en-US" sz="1000" dirty="0"/>
              <a:t>Use the public OHDSI vector search API (Hecate).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814E06B-812A-C871-158E-C48CD2F8E3A3}"/>
              </a:ext>
            </a:extLst>
          </p:cNvPr>
          <p:cNvSpPr/>
          <p:nvPr/>
        </p:nvSpPr>
        <p:spPr>
          <a:xfrm>
            <a:off x="3181600" y="3320393"/>
            <a:ext cx="2337906" cy="630504"/>
          </a:xfrm>
          <a:prstGeom prst="rect">
            <a:avLst/>
          </a:prstGeom>
          <a:solidFill>
            <a:srgbClr val="336B91"/>
          </a:solidFill>
          <a:ln>
            <a:solidFill>
              <a:srgbClr val="1E42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 b="1" dirty="0"/>
              <a:t>Local </a:t>
            </a:r>
            <a:r>
              <a:rPr lang="en-US" sz="1400" b="1" dirty="0" err="1"/>
              <a:t>PGVector</a:t>
            </a:r>
            <a:r>
              <a:rPr lang="en-US" sz="1400" b="1" dirty="0"/>
              <a:t> search</a:t>
            </a:r>
          </a:p>
          <a:p>
            <a:r>
              <a:rPr lang="en-US" sz="1000" dirty="0"/>
              <a:t>Perform an embedding vector search against a local </a:t>
            </a:r>
            <a:r>
              <a:rPr lang="en-US" sz="1000" dirty="0" err="1"/>
              <a:t>PGVector</a:t>
            </a:r>
            <a:r>
              <a:rPr lang="en-US" sz="1000" dirty="0"/>
              <a:t> store.</a:t>
            </a:r>
          </a:p>
        </p:txBody>
      </p:sp>
      <p:sp>
        <p:nvSpPr>
          <p:cNvPr id="24" name="Terminator 23">
            <a:extLst>
              <a:ext uri="{FF2B5EF4-FFF2-40B4-BE49-F238E27FC236}">
                <a16:creationId xmlns:a16="http://schemas.microsoft.com/office/drawing/2014/main" id="{B7A1D276-1E96-121C-F4CE-BF11EB0A6FB0}"/>
              </a:ext>
            </a:extLst>
          </p:cNvPr>
          <p:cNvSpPr/>
          <p:nvPr/>
        </p:nvSpPr>
        <p:spPr>
          <a:xfrm>
            <a:off x="959724" y="3762309"/>
            <a:ext cx="1727900" cy="491884"/>
          </a:xfrm>
          <a:prstGeom prst="flowChartTerminator">
            <a:avLst/>
          </a:prstGeom>
          <a:solidFill>
            <a:srgbClr val="EB6622"/>
          </a:solidFill>
          <a:ln>
            <a:solidFill>
              <a:srgbClr val="974216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Embedding model</a:t>
            </a:r>
          </a:p>
        </p:txBody>
      </p:sp>
      <p:sp>
        <p:nvSpPr>
          <p:cNvPr id="25" name="Terminator 24">
            <a:extLst>
              <a:ext uri="{FF2B5EF4-FFF2-40B4-BE49-F238E27FC236}">
                <a16:creationId xmlns:a16="http://schemas.microsoft.com/office/drawing/2014/main" id="{C3753610-8EEE-628E-A462-1FC34E61E13A}"/>
              </a:ext>
            </a:extLst>
          </p:cNvPr>
          <p:cNvSpPr/>
          <p:nvPr/>
        </p:nvSpPr>
        <p:spPr>
          <a:xfrm>
            <a:off x="959722" y="3156971"/>
            <a:ext cx="1727900" cy="491884"/>
          </a:xfrm>
          <a:prstGeom prst="flowChartTerminator">
            <a:avLst/>
          </a:prstGeom>
          <a:solidFill>
            <a:srgbClr val="EB6622"/>
          </a:solidFill>
          <a:ln>
            <a:solidFill>
              <a:srgbClr val="974216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PGVector</a:t>
            </a:r>
            <a:endParaRPr lang="en-US" sz="16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87CFF26-C8C9-1DA2-A317-584114C0A6F9}"/>
              </a:ext>
            </a:extLst>
          </p:cNvPr>
          <p:cNvSpPr/>
          <p:nvPr/>
        </p:nvSpPr>
        <p:spPr>
          <a:xfrm>
            <a:off x="3176236" y="5129567"/>
            <a:ext cx="2337906" cy="803806"/>
          </a:xfrm>
          <a:prstGeom prst="rect">
            <a:avLst/>
          </a:prstGeom>
          <a:solidFill>
            <a:srgbClr val="336B91"/>
          </a:solidFill>
          <a:ln>
            <a:solidFill>
              <a:srgbClr val="1E42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 b="1" dirty="0"/>
              <a:t>Add concept context</a:t>
            </a:r>
          </a:p>
          <a:p>
            <a:r>
              <a:rPr lang="en-US" sz="1000" dirty="0"/>
              <a:t>Retrieve the context of the retrieved target concepts, including synonyms, parents, and children.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BA3E045-F614-6786-4521-94906E01C224}"/>
              </a:ext>
            </a:extLst>
          </p:cNvPr>
          <p:cNvSpPr/>
          <p:nvPr/>
        </p:nvSpPr>
        <p:spPr>
          <a:xfrm>
            <a:off x="5755262" y="5074298"/>
            <a:ext cx="2337906" cy="914341"/>
          </a:xfrm>
          <a:prstGeom prst="rect">
            <a:avLst/>
          </a:prstGeom>
          <a:solidFill>
            <a:srgbClr val="336B91"/>
          </a:solidFill>
          <a:ln>
            <a:solidFill>
              <a:srgbClr val="1E42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 b="1" dirty="0"/>
              <a:t>LLM concept selection</a:t>
            </a:r>
          </a:p>
          <a:p>
            <a:r>
              <a:rPr lang="en-US" sz="1000" dirty="0"/>
              <a:t>Use the LLM to select exact matches using reasoning based on the terms and target context, or declare if no exact match exists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4D2837B-5D36-8C69-E794-BEBBDCCCC221}"/>
              </a:ext>
            </a:extLst>
          </p:cNvPr>
          <p:cNvSpPr/>
          <p:nvPr/>
        </p:nvSpPr>
        <p:spPr>
          <a:xfrm>
            <a:off x="8253677" y="2833087"/>
            <a:ext cx="3073816" cy="14211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1400" b="1" dirty="0">
                <a:solidFill>
                  <a:schemeClr val="tx1"/>
                </a:solidFill>
              </a:rPr>
              <a:t>Mapping results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609F399-D904-D9B6-D87A-3FAA7B458B19}"/>
              </a:ext>
            </a:extLst>
          </p:cNvPr>
          <p:cNvSpPr/>
          <p:nvPr/>
        </p:nvSpPr>
        <p:spPr>
          <a:xfrm>
            <a:off x="3181602" y="1917057"/>
            <a:ext cx="2337906" cy="618241"/>
          </a:xfrm>
          <a:prstGeom prst="rect">
            <a:avLst/>
          </a:prstGeom>
          <a:solidFill>
            <a:srgbClr val="336B91"/>
          </a:solidFill>
          <a:ln>
            <a:solidFill>
              <a:srgbClr val="1E42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 b="1" dirty="0"/>
              <a:t>Download terms</a:t>
            </a:r>
          </a:p>
          <a:p>
            <a:r>
              <a:rPr lang="en-US" sz="1000" dirty="0"/>
              <a:t>Retrieves names and synonyms of standard concepts.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B3C43AB1-E4B5-58B1-BF79-BCDD4B943345}"/>
              </a:ext>
            </a:extLst>
          </p:cNvPr>
          <p:cNvSpPr/>
          <p:nvPr/>
        </p:nvSpPr>
        <p:spPr>
          <a:xfrm>
            <a:off x="8324079" y="3125654"/>
            <a:ext cx="1509488" cy="1016443"/>
          </a:xfrm>
          <a:prstGeom prst="roundRect">
            <a:avLst/>
          </a:prstGeom>
          <a:solidFill>
            <a:srgbClr val="68AED5"/>
          </a:solidFill>
          <a:ln>
            <a:solidFill>
              <a:srgbClr val="44728E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 b="1" dirty="0"/>
              <a:t>Exact matches</a:t>
            </a:r>
          </a:p>
          <a:p>
            <a:r>
              <a:rPr lang="en-US" sz="1000" dirty="0"/>
              <a:t>Source terms for which an exactly matching standard concept was found.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6155775-371F-5692-FED7-3E5CFCBB806C}"/>
              </a:ext>
            </a:extLst>
          </p:cNvPr>
          <p:cNvSpPr/>
          <p:nvPr/>
        </p:nvSpPr>
        <p:spPr>
          <a:xfrm>
            <a:off x="5755262" y="4244874"/>
            <a:ext cx="2337906" cy="684689"/>
          </a:xfrm>
          <a:prstGeom prst="rect">
            <a:avLst/>
          </a:prstGeom>
          <a:solidFill>
            <a:srgbClr val="0CA18A"/>
          </a:solidFill>
          <a:ln>
            <a:solidFill>
              <a:srgbClr val="0C726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 b="1" dirty="0"/>
              <a:t>Evaluate search results</a:t>
            </a:r>
          </a:p>
          <a:p>
            <a:r>
              <a:rPr lang="en-US" sz="1000" dirty="0"/>
              <a:t>Compute performance metrics for the vector search using the gold standard.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14B5DDFC-01A0-DD6E-7ADD-93A3E23D5715}"/>
              </a:ext>
            </a:extLst>
          </p:cNvPr>
          <p:cNvSpPr/>
          <p:nvPr/>
        </p:nvSpPr>
        <p:spPr>
          <a:xfrm>
            <a:off x="3178296" y="4244874"/>
            <a:ext cx="2337907" cy="684689"/>
          </a:xfrm>
          <a:prstGeom prst="roundRect">
            <a:avLst/>
          </a:prstGeom>
          <a:solidFill>
            <a:srgbClr val="68AED5"/>
          </a:solidFill>
          <a:ln>
            <a:solidFill>
              <a:srgbClr val="44728E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 b="1" dirty="0"/>
              <a:t>Vector search results</a:t>
            </a:r>
          </a:p>
          <a:p>
            <a:r>
              <a:rPr lang="en-US" sz="1000" dirty="0"/>
              <a:t>By default containing the top 25 best matches per (cleaned) source term.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0FD0884F-76AC-F941-D981-9A993D80D5CA}"/>
              </a:ext>
            </a:extLst>
          </p:cNvPr>
          <p:cNvSpPr/>
          <p:nvPr/>
        </p:nvSpPr>
        <p:spPr>
          <a:xfrm>
            <a:off x="9903969" y="3125654"/>
            <a:ext cx="1364565" cy="1016443"/>
          </a:xfrm>
          <a:prstGeom prst="roundRect">
            <a:avLst/>
          </a:prstGeom>
          <a:solidFill>
            <a:srgbClr val="68AED5"/>
          </a:solidFill>
          <a:ln>
            <a:solidFill>
              <a:srgbClr val="44728E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 b="1" dirty="0"/>
              <a:t>No matches</a:t>
            </a:r>
          </a:p>
          <a:p>
            <a:r>
              <a:rPr lang="en-US" sz="1000" dirty="0"/>
              <a:t>Source terms for which no exact match is believed to exist.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0B8F3CD-220E-E413-D317-9CBDB28F2437}"/>
              </a:ext>
            </a:extLst>
          </p:cNvPr>
          <p:cNvSpPr/>
          <p:nvPr/>
        </p:nvSpPr>
        <p:spPr>
          <a:xfrm>
            <a:off x="8989587" y="1272532"/>
            <a:ext cx="2337906" cy="707404"/>
          </a:xfrm>
          <a:prstGeom prst="rect">
            <a:avLst/>
          </a:prstGeom>
          <a:solidFill>
            <a:srgbClr val="0CA18A"/>
          </a:solidFill>
          <a:ln>
            <a:solidFill>
              <a:srgbClr val="0C726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 b="1" dirty="0"/>
              <a:t>Evaluate mapping </a:t>
            </a:r>
          </a:p>
          <a:p>
            <a:r>
              <a:rPr lang="en-US" sz="1000" dirty="0"/>
              <a:t>Compute accuracy of the mapping using the gold standard. </a:t>
            </a: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6E8AC58A-9595-F330-7362-A25247BC3753}"/>
              </a:ext>
            </a:extLst>
          </p:cNvPr>
          <p:cNvCxnSpPr>
            <a:cxnSpLocks/>
            <a:stCxn id="18" idx="3"/>
            <a:endCxn id="32" idx="0"/>
          </p:cNvCxnSpPr>
          <p:nvPr/>
        </p:nvCxnSpPr>
        <p:spPr>
          <a:xfrm>
            <a:off x="8093168" y="2226178"/>
            <a:ext cx="985655" cy="899476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FAB6BC14-43E4-4A35-153C-A88B6DBFADFC}"/>
              </a:ext>
            </a:extLst>
          </p:cNvPr>
          <p:cNvCxnSpPr>
            <a:cxnSpLocks/>
            <a:stCxn id="113" idx="3"/>
            <a:endCxn id="32" idx="2"/>
          </p:cNvCxnSpPr>
          <p:nvPr/>
        </p:nvCxnSpPr>
        <p:spPr>
          <a:xfrm flipV="1">
            <a:off x="8093168" y="4142097"/>
            <a:ext cx="985655" cy="1196452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3A20CDA6-7964-D5F3-B8BA-9268636F16DD}"/>
              </a:ext>
            </a:extLst>
          </p:cNvPr>
          <p:cNvCxnSpPr>
            <a:cxnSpLocks/>
            <a:stCxn id="116" idx="3"/>
            <a:endCxn id="35" idx="2"/>
          </p:cNvCxnSpPr>
          <p:nvPr/>
        </p:nvCxnSpPr>
        <p:spPr>
          <a:xfrm flipV="1">
            <a:off x="8093168" y="4142097"/>
            <a:ext cx="2493084" cy="1574008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Elbow Connector 55">
            <a:extLst>
              <a:ext uri="{FF2B5EF4-FFF2-40B4-BE49-F238E27FC236}">
                <a16:creationId xmlns:a16="http://schemas.microsoft.com/office/drawing/2014/main" id="{CD3DB7E9-25F7-123E-135E-B68873BEB0EA}"/>
              </a:ext>
            </a:extLst>
          </p:cNvPr>
          <p:cNvCxnSpPr>
            <a:cxnSpLocks/>
            <a:stCxn id="22" idx="1"/>
            <a:endCxn id="25" idx="3"/>
          </p:cNvCxnSpPr>
          <p:nvPr/>
        </p:nvCxnSpPr>
        <p:spPr>
          <a:xfrm rot="10800000">
            <a:off x="2687622" y="3402913"/>
            <a:ext cx="493978" cy="23273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Elbow Connector 58">
            <a:extLst>
              <a:ext uri="{FF2B5EF4-FFF2-40B4-BE49-F238E27FC236}">
                <a16:creationId xmlns:a16="http://schemas.microsoft.com/office/drawing/2014/main" id="{B93ACF48-4176-A3FF-295F-427D1DAB3E93}"/>
              </a:ext>
            </a:extLst>
          </p:cNvPr>
          <p:cNvCxnSpPr>
            <a:cxnSpLocks/>
            <a:stCxn id="22" idx="1"/>
            <a:endCxn id="24" idx="3"/>
          </p:cNvCxnSpPr>
          <p:nvPr/>
        </p:nvCxnSpPr>
        <p:spPr>
          <a:xfrm rot="10800000" flipV="1">
            <a:off x="2687624" y="3635645"/>
            <a:ext cx="493976" cy="37260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FDD6847B-3097-67B1-EDC6-58912145A027}"/>
              </a:ext>
            </a:extLst>
          </p:cNvPr>
          <p:cNvCxnSpPr>
            <a:cxnSpLocks/>
            <a:stCxn id="6" idx="3"/>
            <a:endCxn id="25" idx="0"/>
          </p:cNvCxnSpPr>
          <p:nvPr/>
        </p:nvCxnSpPr>
        <p:spPr>
          <a:xfrm>
            <a:off x="1820673" y="2651818"/>
            <a:ext cx="2999" cy="50515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Elbow Connector 70">
            <a:extLst>
              <a:ext uri="{FF2B5EF4-FFF2-40B4-BE49-F238E27FC236}">
                <a16:creationId xmlns:a16="http://schemas.microsoft.com/office/drawing/2014/main" id="{F68C6859-D3D2-F94D-430A-FC97FF7C9C8E}"/>
              </a:ext>
            </a:extLst>
          </p:cNvPr>
          <p:cNvCxnSpPr>
            <a:cxnSpLocks/>
            <a:stCxn id="6" idx="2"/>
            <a:endCxn id="26" idx="1"/>
          </p:cNvCxnSpPr>
          <p:nvPr/>
        </p:nvCxnSpPr>
        <p:spPr>
          <a:xfrm rot="10800000" flipH="1" flipV="1">
            <a:off x="963028" y="2226178"/>
            <a:ext cx="2213208" cy="3305292"/>
          </a:xfrm>
          <a:prstGeom prst="bentConnector3">
            <a:avLst>
              <a:gd name="adj1" fmla="val -6055"/>
            </a:avLst>
          </a:prstGeom>
          <a:ln>
            <a:solidFill>
              <a:schemeClr val="tx1"/>
            </a:solidFill>
            <a:headEnd type="none" w="med" len="med"/>
            <a:tailEnd type="triangl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A449B0E1-449A-D53C-8A66-26963263ED06}"/>
              </a:ext>
            </a:extLst>
          </p:cNvPr>
          <p:cNvCxnSpPr>
            <a:cxnSpLocks/>
            <a:stCxn id="27" idx="2"/>
            <a:endCxn id="7" idx="1"/>
          </p:cNvCxnSpPr>
          <p:nvPr/>
        </p:nvCxnSpPr>
        <p:spPr>
          <a:xfrm rot="5400000" flipH="1">
            <a:off x="1600911" y="665336"/>
            <a:ext cx="4669503" cy="5977104"/>
          </a:xfrm>
          <a:prstGeom prst="bentConnector4">
            <a:avLst>
              <a:gd name="adj1" fmla="val -4896"/>
              <a:gd name="adj2" fmla="val 103825"/>
            </a:avLst>
          </a:prstGeom>
          <a:ln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59DF5683-9D8C-63F8-C60E-812BB0457AFA}"/>
              </a:ext>
            </a:extLst>
          </p:cNvPr>
          <p:cNvCxnSpPr>
            <a:cxnSpLocks/>
            <a:stCxn id="5" idx="2"/>
            <a:endCxn id="18" idx="0"/>
          </p:cNvCxnSpPr>
          <p:nvPr/>
        </p:nvCxnSpPr>
        <p:spPr>
          <a:xfrm>
            <a:off x="6924215" y="1628257"/>
            <a:ext cx="0" cy="197535"/>
          </a:xfrm>
          <a:prstGeom prst="straightConnector1">
            <a:avLst/>
          </a:prstGeom>
          <a:ln>
            <a:tailEnd type="triangl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1C3D94EF-96DE-64CC-BE98-B32BC39DCE35}"/>
              </a:ext>
            </a:extLst>
          </p:cNvPr>
          <p:cNvCxnSpPr>
            <a:cxnSpLocks/>
            <a:stCxn id="31" idx="3"/>
            <a:endCxn id="18" idx="1"/>
          </p:cNvCxnSpPr>
          <p:nvPr/>
        </p:nvCxnSpPr>
        <p:spPr>
          <a:xfrm>
            <a:off x="5519508" y="2226178"/>
            <a:ext cx="235754" cy="0"/>
          </a:xfrm>
          <a:prstGeom prst="straightConnector1">
            <a:avLst/>
          </a:prstGeom>
          <a:ln>
            <a:tailEnd type="triangl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49F8D620-04B5-868D-E4BF-77C2B16B7CE9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6924214" y="2626564"/>
            <a:ext cx="1" cy="205890"/>
          </a:xfrm>
          <a:prstGeom prst="straightConnector1">
            <a:avLst/>
          </a:prstGeom>
          <a:ln>
            <a:tailEnd type="triangl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62EEE128-DCE4-453B-E792-AD082EE86A3F}"/>
              </a:ext>
            </a:extLst>
          </p:cNvPr>
          <p:cNvCxnSpPr>
            <a:cxnSpLocks/>
            <a:endCxn id="34" idx="0"/>
          </p:cNvCxnSpPr>
          <p:nvPr/>
        </p:nvCxnSpPr>
        <p:spPr>
          <a:xfrm>
            <a:off x="4347247" y="4042273"/>
            <a:ext cx="3" cy="202601"/>
          </a:xfrm>
          <a:prstGeom prst="straightConnector1">
            <a:avLst/>
          </a:prstGeom>
          <a:ln>
            <a:tailEnd type="triangl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24A1A584-0DA0-3533-2296-8C11DCF25C3A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5516203" y="4587219"/>
            <a:ext cx="239059" cy="0"/>
          </a:xfrm>
          <a:prstGeom prst="straightConnector1">
            <a:avLst/>
          </a:prstGeom>
          <a:ln>
            <a:tailEnd type="triangl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FE2F3826-4E7D-79B9-3818-3C4A4B690C4E}"/>
              </a:ext>
            </a:extLst>
          </p:cNvPr>
          <p:cNvCxnSpPr>
            <a:cxnSpLocks/>
            <a:stCxn id="34" idx="2"/>
            <a:endCxn id="26" idx="0"/>
          </p:cNvCxnSpPr>
          <p:nvPr/>
        </p:nvCxnSpPr>
        <p:spPr>
          <a:xfrm flipH="1">
            <a:off x="4345189" y="4929563"/>
            <a:ext cx="2061" cy="200004"/>
          </a:xfrm>
          <a:prstGeom prst="straightConnector1">
            <a:avLst/>
          </a:prstGeom>
          <a:ln>
            <a:tailEnd type="triangl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F38A5387-8CD4-64AD-05EF-1183127B8C9D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5514142" y="5531469"/>
            <a:ext cx="241120" cy="1"/>
          </a:xfrm>
          <a:prstGeom prst="straightConnector1">
            <a:avLst/>
          </a:prstGeom>
          <a:ln>
            <a:tailEnd type="triangl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457773A-F217-D225-415E-BE393A4D493B}"/>
              </a:ext>
            </a:extLst>
          </p:cNvPr>
          <p:cNvSpPr/>
          <p:nvPr/>
        </p:nvSpPr>
        <p:spPr>
          <a:xfrm>
            <a:off x="7808206" y="5206670"/>
            <a:ext cx="284962" cy="26375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7FDFBCA4-FC84-F01E-2727-A272CFA77089}"/>
              </a:ext>
            </a:extLst>
          </p:cNvPr>
          <p:cNvSpPr/>
          <p:nvPr/>
        </p:nvSpPr>
        <p:spPr>
          <a:xfrm>
            <a:off x="7808206" y="5584226"/>
            <a:ext cx="284962" cy="26375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69EC8167-0E00-661C-1FD2-4DB8F2DBA6C8}"/>
              </a:ext>
            </a:extLst>
          </p:cNvPr>
          <p:cNvSpPr txBox="1"/>
          <p:nvPr/>
        </p:nvSpPr>
        <p:spPr>
          <a:xfrm>
            <a:off x="8042789" y="1955322"/>
            <a:ext cx="6710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Match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5766E1B-A95A-99C3-1B9D-FE0FAB1E18C0}"/>
              </a:ext>
            </a:extLst>
          </p:cNvPr>
          <p:cNvSpPr txBox="1"/>
          <p:nvPr/>
        </p:nvSpPr>
        <p:spPr>
          <a:xfrm>
            <a:off x="6916321" y="2574179"/>
            <a:ext cx="9467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No match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E4ACF939-9744-8F77-F49D-0815C4CD151B}"/>
              </a:ext>
            </a:extLst>
          </p:cNvPr>
          <p:cNvSpPr txBox="1"/>
          <p:nvPr/>
        </p:nvSpPr>
        <p:spPr>
          <a:xfrm>
            <a:off x="8042789" y="5694095"/>
            <a:ext cx="9467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No match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849E12-E50F-06B7-175D-254A2B23F2F2}"/>
              </a:ext>
            </a:extLst>
          </p:cNvPr>
          <p:cNvSpPr txBox="1"/>
          <p:nvPr/>
        </p:nvSpPr>
        <p:spPr>
          <a:xfrm>
            <a:off x="8034641" y="5061065"/>
            <a:ext cx="6710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Match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B41A49F8-4EB3-FEF1-FE9A-FAB00DBF4FA9}"/>
              </a:ext>
            </a:extLst>
          </p:cNvPr>
          <p:cNvCxnSpPr>
            <a:cxnSpLocks/>
            <a:stCxn id="6" idx="4"/>
            <a:endCxn id="31" idx="1"/>
          </p:cNvCxnSpPr>
          <p:nvPr/>
        </p:nvCxnSpPr>
        <p:spPr>
          <a:xfrm>
            <a:off x="2678317" y="2226178"/>
            <a:ext cx="503285" cy="0"/>
          </a:xfrm>
          <a:prstGeom prst="straightConnector1">
            <a:avLst/>
          </a:prstGeom>
          <a:ln>
            <a:tailEnd type="triangl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1C5610E1-AA5E-597C-318B-469EF3F7463B}"/>
              </a:ext>
            </a:extLst>
          </p:cNvPr>
          <p:cNvCxnSpPr>
            <a:cxnSpLocks/>
            <a:endCxn id="37" idx="2"/>
          </p:cNvCxnSpPr>
          <p:nvPr/>
        </p:nvCxnSpPr>
        <p:spPr>
          <a:xfrm flipV="1">
            <a:off x="10158540" y="1979936"/>
            <a:ext cx="0" cy="852518"/>
          </a:xfrm>
          <a:prstGeom prst="straightConnector1">
            <a:avLst/>
          </a:prstGeom>
          <a:ln>
            <a:tailEnd type="triangl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5" name="Elbow Connector 144">
            <a:extLst>
              <a:ext uri="{FF2B5EF4-FFF2-40B4-BE49-F238E27FC236}">
                <a16:creationId xmlns:a16="http://schemas.microsoft.com/office/drawing/2014/main" id="{442D1E5B-9F68-1D6E-2460-5A8BE693344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5514143" y="805619"/>
            <a:ext cx="1410072" cy="204397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82422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231</Words>
  <Application>Microsoft Macintosh PowerPoint</Application>
  <PresentationFormat>Widescreen</PresentationFormat>
  <Paragraphs>38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Martijn Schuemie</dc:creator>
  <cp:lastModifiedBy>Martijn Schuemie</cp:lastModifiedBy>
  <cp:revision>12</cp:revision>
  <dcterms:created xsi:type="dcterms:W3CDTF">2025-12-11T07:11:36Z</dcterms:created>
  <dcterms:modified xsi:type="dcterms:W3CDTF">2025-12-11T09:06:19Z</dcterms:modified>
</cp:coreProperties>
</file>