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216"/>
    <a:srgbClr val="1E425A"/>
    <a:srgbClr val="44728E"/>
    <a:srgbClr val="0C7262"/>
    <a:srgbClr val="0CA18A"/>
    <a:srgbClr val="336B91"/>
    <a:srgbClr val="68AED5"/>
    <a:srgbClr val="EB6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09"/>
    <p:restoredTop sz="94646"/>
  </p:normalViewPr>
  <p:slideViewPr>
    <p:cSldViewPr snapToGrid="0">
      <p:cViewPr varScale="1">
        <p:scale>
          <a:sx n="196" d="100"/>
          <a:sy n="196" d="100"/>
        </p:scale>
        <p:origin x="21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54E6-2D55-C09C-4F36-49141A702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7DC1B-52AF-E475-3D8F-B3C94D377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9B1C8-C1DD-2572-DB41-7179286E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2E1CA-2608-BD1D-3475-859B05DD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408A0-2266-82EA-0B86-C59F261F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561C-194D-9235-2F6A-2BBC1060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9D16A-6158-137F-9F5E-445DF346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A3A99-10F5-AB5A-CF17-901A5375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8B4A9-F418-CE99-646E-955B4F56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E0B00-E4C4-BF83-9BB5-249AE054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3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F6C3-EC04-AB68-40AA-001B97DAB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4821B-C200-C26D-EC4F-89DD4AD4C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A9A2-B667-55D3-9C10-0221A5F8C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38773-CB9A-28DA-DFBC-B375DD6D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7DB1E-F2C8-E697-864A-66211718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FD3C-8FBB-B89E-1FA7-1645542B1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6D0C-A344-2F18-53F8-AD15F1BAE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124E4-5893-9BDB-A397-CE3752C1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38659-FB5A-54D7-600B-0E7D21AD1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55D39-B710-1A2B-AE87-01AB2110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1F42C-2930-6B55-2269-937737EE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2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6BDF-E8B8-F016-08DE-0C0FD2EB2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28E0F-9BB7-76B0-DB38-2EDA11092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D8D6B-A5AC-5FB2-C43A-840941A0A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5DD3C-4E02-CC36-B29E-29727C0EE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5E9A75-256A-E2CA-1720-D6DD6F17C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C771B-C19F-6A6A-F5A7-D25AFEEA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4ED57-54F7-4F52-FF9A-ED4B2917B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6ABDC-9306-82DA-0167-A8BE9C60B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06C8-BF67-BF56-6F15-D3A74836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195F2-49BD-B55C-745D-A6892006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B9262-0D4F-3781-C8BF-8DB3D554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FC918-A090-B0D9-2AAF-AD34604A8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3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C18E2-D939-2E05-F8E7-6E1932FA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1AF19F-5CE8-0257-E403-45FADAEF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D6A6A-05A1-2CBE-AA53-24D3DA9B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7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16EC-00B0-7544-17A5-40262691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BA089-AF49-FA36-1E79-05E60A958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BE1AC-D25F-D649-7EF4-97E3F6650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65A95-7458-852E-55B7-4DDB409C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43E7C-C90A-72C4-9D93-09F8B3C2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60D0E-6FD1-2153-7D64-C3C1AC1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1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51B9-F628-9DC8-A027-2E103FD7A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16AE-3B88-037E-4CA8-C59086664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172C6-8355-4A60-0CB2-159EBB5E2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00259-B65B-925B-8166-8C8168E5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CE0C2-45E7-22FD-A7C3-38F4F554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8E727-9221-9CDB-47BD-F3F2E478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4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B0AFD-BF13-74F0-CD9A-4F4FD63E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E16EC-496A-4503-925B-EC2ACAF05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F0CFC-67CC-C2E9-1982-423A5294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25CC4-2FE5-78AD-A1A9-293A5E0C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E47D8-55BA-D52C-08BD-6DE6715D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3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29715-B590-10B2-E197-8A9B79650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4A682-5A17-294F-7420-4D7BF052C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1BF1C-2CE0-213A-B99B-D1EE687B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9F1FE-A94E-1A90-1165-2D06E681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5F8EE-F525-8E25-BB8E-68185AA3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0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6938DC-849A-431C-97F4-79206FED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FF87D-DEDC-342E-685A-B021D4185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3EACE-3283-2136-4D25-949002E8C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15799-DC7A-F74A-AB6B-991E43279CA1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7ED6-943D-8F3B-3876-7F5662098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52DD3-3DAE-1CB1-182A-8E63256CC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D17AF-3A78-5941-8FF9-B599921ED6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5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BD02039-B1BA-2D7E-9375-6D479B2367C2}"/>
              </a:ext>
            </a:extLst>
          </p:cNvPr>
          <p:cNvSpPr/>
          <p:nvPr/>
        </p:nvSpPr>
        <p:spPr>
          <a:xfrm>
            <a:off x="3102875" y="2832454"/>
            <a:ext cx="5076275" cy="12098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</a:rPr>
              <a:t>Embedding vector search</a:t>
            </a:r>
          </a:p>
          <a:p>
            <a:r>
              <a:rPr lang="en-US" sz="1000" dirty="0">
                <a:solidFill>
                  <a:schemeClr val="tx1"/>
                </a:solidFill>
              </a:rPr>
              <a:t>Two implementation are available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8E45F7-31D5-42DA-60F0-51BDC5B5930E}"/>
              </a:ext>
            </a:extLst>
          </p:cNvPr>
          <p:cNvSpPr/>
          <p:nvPr/>
        </p:nvSpPr>
        <p:spPr>
          <a:xfrm>
            <a:off x="3176236" y="463274"/>
            <a:ext cx="2337907" cy="684689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Source terms</a:t>
            </a:r>
          </a:p>
          <a:p>
            <a:r>
              <a:rPr lang="en-US" sz="1000" dirty="0"/>
              <a:t>In this notebook we use the source terms in the gold standard.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C4412-280A-5E34-EB46-1E34E3E172BA}"/>
              </a:ext>
            </a:extLst>
          </p:cNvPr>
          <p:cNvSpPr/>
          <p:nvPr/>
        </p:nvSpPr>
        <p:spPr>
          <a:xfrm>
            <a:off x="5755262" y="1010016"/>
            <a:ext cx="2337906" cy="6182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Term cleaning</a:t>
            </a:r>
          </a:p>
          <a:p>
            <a:r>
              <a:rPr lang="en-US" sz="1000" dirty="0"/>
              <a:t>Removes uninformative parts like “not otherwise specified”.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F877E9F2-7AA1-873C-EE8C-29BF0872E6C1}"/>
              </a:ext>
            </a:extLst>
          </p:cNvPr>
          <p:cNvSpPr/>
          <p:nvPr/>
        </p:nvSpPr>
        <p:spPr>
          <a:xfrm>
            <a:off x="963028" y="1800538"/>
            <a:ext cx="1715289" cy="851280"/>
          </a:xfrm>
          <a:prstGeom prst="can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Vocabulary</a:t>
            </a:r>
          </a:p>
          <a:p>
            <a:pPr algn="ctr"/>
            <a:r>
              <a:rPr lang="en-US" sz="1600" dirty="0"/>
              <a:t>Database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93703109-1388-3CD9-23D3-558B7BC4AEE0}"/>
              </a:ext>
            </a:extLst>
          </p:cNvPr>
          <p:cNvSpPr/>
          <p:nvPr/>
        </p:nvSpPr>
        <p:spPr>
          <a:xfrm>
            <a:off x="947111" y="1073194"/>
            <a:ext cx="1727900" cy="491884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 (GPT o3)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508ACDE-139D-FDE1-FE2E-7DAD8498149B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rot="10800000">
            <a:off x="2675012" y="1319137"/>
            <a:ext cx="3080251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A357807-65D7-574C-B276-DE507ED74068}"/>
              </a:ext>
            </a:extLst>
          </p:cNvPr>
          <p:cNvSpPr/>
          <p:nvPr/>
        </p:nvSpPr>
        <p:spPr>
          <a:xfrm>
            <a:off x="5755262" y="1825792"/>
            <a:ext cx="2337906" cy="800772"/>
          </a:xfrm>
          <a:prstGeom prst="rect">
            <a:avLst/>
          </a:prstGeom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Verbatim text matching</a:t>
            </a:r>
          </a:p>
          <a:p>
            <a:r>
              <a:rPr lang="en-US" sz="1000" dirty="0"/>
              <a:t>Finds target concepts where the </a:t>
            </a:r>
            <a:r>
              <a:rPr lang="en-US" sz="1000"/>
              <a:t>name or </a:t>
            </a:r>
            <a:r>
              <a:rPr lang="en-US" sz="1000" dirty="0"/>
              <a:t>synonym matches the source term, allowing for some lexical variations.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14F236-BEBB-5468-264E-922BA73D04FA}"/>
              </a:ext>
            </a:extLst>
          </p:cNvPr>
          <p:cNvSpPr/>
          <p:nvPr/>
        </p:nvSpPr>
        <p:spPr>
          <a:xfrm>
            <a:off x="5755262" y="3320393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OHDSI vector search API</a:t>
            </a:r>
          </a:p>
          <a:p>
            <a:r>
              <a:rPr lang="en-US" sz="1000" dirty="0"/>
              <a:t>Use the public OHDSI vector search API (Hecate).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14E06B-812A-C871-158E-C48CD2F8E3A3}"/>
              </a:ext>
            </a:extLst>
          </p:cNvPr>
          <p:cNvSpPr/>
          <p:nvPr/>
        </p:nvSpPr>
        <p:spPr>
          <a:xfrm>
            <a:off x="3181600" y="3320393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Local </a:t>
            </a:r>
            <a:r>
              <a:rPr lang="en-US" sz="1400" b="1" dirty="0" err="1"/>
              <a:t>PGVector</a:t>
            </a:r>
            <a:r>
              <a:rPr lang="en-US" sz="1400" b="1" dirty="0"/>
              <a:t> search</a:t>
            </a:r>
          </a:p>
          <a:p>
            <a:r>
              <a:rPr lang="en-US" sz="1000" dirty="0"/>
              <a:t>Perform an embedding vector search against a local </a:t>
            </a:r>
            <a:r>
              <a:rPr lang="en-US" sz="1000" dirty="0" err="1"/>
              <a:t>PGVector</a:t>
            </a:r>
            <a:r>
              <a:rPr lang="en-US" sz="1000" dirty="0"/>
              <a:t> store.</a:t>
            </a:r>
          </a:p>
        </p:txBody>
      </p:sp>
      <p:sp>
        <p:nvSpPr>
          <p:cNvPr id="24" name="Terminator 23">
            <a:extLst>
              <a:ext uri="{FF2B5EF4-FFF2-40B4-BE49-F238E27FC236}">
                <a16:creationId xmlns:a16="http://schemas.microsoft.com/office/drawing/2014/main" id="{B7A1D276-1E96-121C-F4CE-BF11EB0A6FB0}"/>
              </a:ext>
            </a:extLst>
          </p:cNvPr>
          <p:cNvSpPr/>
          <p:nvPr/>
        </p:nvSpPr>
        <p:spPr>
          <a:xfrm>
            <a:off x="959724" y="3762309"/>
            <a:ext cx="1727900" cy="491884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Embedding model</a:t>
            </a:r>
          </a:p>
        </p:txBody>
      </p:sp>
      <p:sp>
        <p:nvSpPr>
          <p:cNvPr id="25" name="Terminator 24">
            <a:extLst>
              <a:ext uri="{FF2B5EF4-FFF2-40B4-BE49-F238E27FC236}">
                <a16:creationId xmlns:a16="http://schemas.microsoft.com/office/drawing/2014/main" id="{C3753610-8EEE-628E-A462-1FC34E61E13A}"/>
              </a:ext>
            </a:extLst>
          </p:cNvPr>
          <p:cNvSpPr/>
          <p:nvPr/>
        </p:nvSpPr>
        <p:spPr>
          <a:xfrm>
            <a:off x="959722" y="3156971"/>
            <a:ext cx="1727900" cy="491884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PGVector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7CFF26-C8C9-1DA2-A317-584114C0A6F9}"/>
              </a:ext>
            </a:extLst>
          </p:cNvPr>
          <p:cNvSpPr/>
          <p:nvPr/>
        </p:nvSpPr>
        <p:spPr>
          <a:xfrm>
            <a:off x="3176236" y="5129567"/>
            <a:ext cx="2337906" cy="803806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Add concept context</a:t>
            </a:r>
          </a:p>
          <a:p>
            <a:r>
              <a:rPr lang="en-US" sz="1000" dirty="0"/>
              <a:t>Retrieve the context of the retrieved target concepts, including synonyms, parents, and children.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A3E045-F614-6786-4521-94906E01C224}"/>
              </a:ext>
            </a:extLst>
          </p:cNvPr>
          <p:cNvSpPr/>
          <p:nvPr/>
        </p:nvSpPr>
        <p:spPr>
          <a:xfrm>
            <a:off x="5755262" y="5074298"/>
            <a:ext cx="2337906" cy="9143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LLM concept selection</a:t>
            </a:r>
          </a:p>
          <a:p>
            <a:r>
              <a:rPr lang="en-US" sz="1000" dirty="0"/>
              <a:t>Use the LLM to select exact matches using reasoning based on the terms and target context, or declare if no exact match exists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4D2837B-5D36-8C69-E794-BEBBDCCCC221}"/>
              </a:ext>
            </a:extLst>
          </p:cNvPr>
          <p:cNvSpPr/>
          <p:nvPr/>
        </p:nvSpPr>
        <p:spPr>
          <a:xfrm>
            <a:off x="8253677" y="2833087"/>
            <a:ext cx="3073816" cy="14211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sz="1400" b="1" dirty="0">
                <a:solidFill>
                  <a:schemeClr val="tx1"/>
                </a:solidFill>
              </a:rPr>
              <a:t>Mapping results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09F399-D904-D9B6-D87A-3FAA7B458B19}"/>
              </a:ext>
            </a:extLst>
          </p:cNvPr>
          <p:cNvSpPr/>
          <p:nvPr/>
        </p:nvSpPr>
        <p:spPr>
          <a:xfrm>
            <a:off x="3181602" y="1917057"/>
            <a:ext cx="2337906" cy="6182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Download terms</a:t>
            </a:r>
          </a:p>
          <a:p>
            <a:r>
              <a:rPr lang="en-US" sz="1000" dirty="0"/>
              <a:t>Retrieves names and synonyms of standard concepts.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3C43AB1-E4B5-58B1-BF79-BCDD4B943345}"/>
              </a:ext>
            </a:extLst>
          </p:cNvPr>
          <p:cNvSpPr/>
          <p:nvPr/>
        </p:nvSpPr>
        <p:spPr>
          <a:xfrm>
            <a:off x="8324079" y="3125654"/>
            <a:ext cx="1509488" cy="1016443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Exact matches</a:t>
            </a:r>
          </a:p>
          <a:p>
            <a:r>
              <a:rPr lang="en-US" sz="1000" dirty="0"/>
              <a:t>Source terms for which an exactly matching standard concept was found.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55775-371F-5692-FED7-3E5CFCBB806C}"/>
              </a:ext>
            </a:extLst>
          </p:cNvPr>
          <p:cNvSpPr/>
          <p:nvPr/>
        </p:nvSpPr>
        <p:spPr>
          <a:xfrm>
            <a:off x="5755262" y="4244874"/>
            <a:ext cx="2337906" cy="684689"/>
          </a:xfrm>
          <a:prstGeom prst="rect">
            <a:avLst/>
          </a:prstGeom>
          <a:solidFill>
            <a:srgbClr val="0CA18A"/>
          </a:solidFill>
          <a:ln>
            <a:solidFill>
              <a:srgbClr val="0C7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Evaluate search results</a:t>
            </a:r>
          </a:p>
          <a:p>
            <a:r>
              <a:rPr lang="en-US" sz="1000" dirty="0"/>
              <a:t>Compute performance metrics for the vector search using the gold standard.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4B5DDFC-01A0-DD6E-7ADD-93A3E23D5715}"/>
              </a:ext>
            </a:extLst>
          </p:cNvPr>
          <p:cNvSpPr/>
          <p:nvPr/>
        </p:nvSpPr>
        <p:spPr>
          <a:xfrm>
            <a:off x="3178296" y="4244874"/>
            <a:ext cx="2337907" cy="684689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Vector search results</a:t>
            </a:r>
          </a:p>
          <a:p>
            <a:r>
              <a:rPr lang="en-US" sz="1000" dirty="0"/>
              <a:t>By default containing the top 25 best matches per (cleaned) source term.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D0884F-76AC-F941-D981-9A993D80D5CA}"/>
              </a:ext>
            </a:extLst>
          </p:cNvPr>
          <p:cNvSpPr/>
          <p:nvPr/>
        </p:nvSpPr>
        <p:spPr>
          <a:xfrm>
            <a:off x="9903969" y="3125654"/>
            <a:ext cx="1364565" cy="1016443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No matches</a:t>
            </a:r>
          </a:p>
          <a:p>
            <a:r>
              <a:rPr lang="en-US" sz="1000" dirty="0"/>
              <a:t>Source terms for which no exact match is believed to exist.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B8F3CD-220E-E413-D317-9CBDB28F2437}"/>
              </a:ext>
            </a:extLst>
          </p:cNvPr>
          <p:cNvSpPr/>
          <p:nvPr/>
        </p:nvSpPr>
        <p:spPr>
          <a:xfrm>
            <a:off x="8989587" y="1272532"/>
            <a:ext cx="2337906" cy="707404"/>
          </a:xfrm>
          <a:prstGeom prst="rect">
            <a:avLst/>
          </a:prstGeom>
          <a:solidFill>
            <a:srgbClr val="0CA18A"/>
          </a:solidFill>
          <a:ln>
            <a:solidFill>
              <a:srgbClr val="0C72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Evaluate mapping </a:t>
            </a:r>
          </a:p>
          <a:p>
            <a:r>
              <a:rPr lang="en-US" sz="1000" dirty="0"/>
              <a:t>Compute accuracy of the mapping using the gold standard. 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6E8AC58A-9595-F330-7362-A25247BC3753}"/>
              </a:ext>
            </a:extLst>
          </p:cNvPr>
          <p:cNvCxnSpPr>
            <a:cxnSpLocks/>
            <a:stCxn id="18" idx="3"/>
            <a:endCxn id="32" idx="0"/>
          </p:cNvCxnSpPr>
          <p:nvPr/>
        </p:nvCxnSpPr>
        <p:spPr>
          <a:xfrm>
            <a:off x="8093168" y="2226178"/>
            <a:ext cx="985655" cy="89947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FAB6BC14-43E4-4A35-153C-A88B6DBFADFC}"/>
              </a:ext>
            </a:extLst>
          </p:cNvPr>
          <p:cNvCxnSpPr>
            <a:cxnSpLocks/>
            <a:stCxn id="113" idx="3"/>
            <a:endCxn id="32" idx="2"/>
          </p:cNvCxnSpPr>
          <p:nvPr/>
        </p:nvCxnSpPr>
        <p:spPr>
          <a:xfrm flipV="1">
            <a:off x="8093168" y="4142097"/>
            <a:ext cx="985655" cy="1196452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3A20CDA6-7964-D5F3-B8BA-9268636F16DD}"/>
              </a:ext>
            </a:extLst>
          </p:cNvPr>
          <p:cNvCxnSpPr>
            <a:cxnSpLocks/>
            <a:stCxn id="116" idx="3"/>
            <a:endCxn id="35" idx="2"/>
          </p:cNvCxnSpPr>
          <p:nvPr/>
        </p:nvCxnSpPr>
        <p:spPr>
          <a:xfrm flipV="1">
            <a:off x="8093168" y="4142097"/>
            <a:ext cx="2493084" cy="157400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D3DB7E9-25F7-123E-135E-B68873BEB0EA}"/>
              </a:ext>
            </a:extLst>
          </p:cNvPr>
          <p:cNvCxnSpPr>
            <a:cxnSpLocks/>
            <a:stCxn id="22" idx="1"/>
            <a:endCxn id="25" idx="3"/>
          </p:cNvCxnSpPr>
          <p:nvPr/>
        </p:nvCxnSpPr>
        <p:spPr>
          <a:xfrm rot="10800000">
            <a:off x="2687622" y="3402913"/>
            <a:ext cx="493978" cy="2327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93ACF48-4176-A3FF-295F-427D1DAB3E93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rot="10800000" flipV="1">
            <a:off x="2687624" y="3635645"/>
            <a:ext cx="493976" cy="37260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DD6847B-3097-67B1-EDC6-58912145A027}"/>
              </a:ext>
            </a:extLst>
          </p:cNvPr>
          <p:cNvCxnSpPr>
            <a:cxnSpLocks/>
            <a:stCxn id="6" idx="3"/>
            <a:endCxn id="25" idx="0"/>
          </p:cNvCxnSpPr>
          <p:nvPr/>
        </p:nvCxnSpPr>
        <p:spPr>
          <a:xfrm>
            <a:off x="1820673" y="2651818"/>
            <a:ext cx="2999" cy="5051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F68C6859-D3D2-F94D-430A-FC97FF7C9C8E}"/>
              </a:ext>
            </a:extLst>
          </p:cNvPr>
          <p:cNvCxnSpPr>
            <a:cxnSpLocks/>
            <a:stCxn id="6" idx="2"/>
            <a:endCxn id="26" idx="1"/>
          </p:cNvCxnSpPr>
          <p:nvPr/>
        </p:nvCxnSpPr>
        <p:spPr>
          <a:xfrm rot="10800000" flipH="1" flipV="1">
            <a:off x="963028" y="2226178"/>
            <a:ext cx="2213208" cy="3305292"/>
          </a:xfrm>
          <a:prstGeom prst="bentConnector3">
            <a:avLst>
              <a:gd name="adj1" fmla="val -6055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A449B0E1-449A-D53C-8A66-26963263ED06}"/>
              </a:ext>
            </a:extLst>
          </p:cNvPr>
          <p:cNvCxnSpPr>
            <a:cxnSpLocks/>
            <a:stCxn id="27" idx="2"/>
            <a:endCxn id="7" idx="1"/>
          </p:cNvCxnSpPr>
          <p:nvPr/>
        </p:nvCxnSpPr>
        <p:spPr>
          <a:xfrm rot="5400000" flipH="1">
            <a:off x="1600911" y="665336"/>
            <a:ext cx="4669503" cy="5977104"/>
          </a:xfrm>
          <a:prstGeom prst="bentConnector4">
            <a:avLst>
              <a:gd name="adj1" fmla="val -4896"/>
              <a:gd name="adj2" fmla="val 103825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9DF5683-9D8C-63F8-C60E-812BB0457AFA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6924215" y="1628257"/>
            <a:ext cx="0" cy="197535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C3D94EF-96DE-64CC-BE98-B32BC39DCE35}"/>
              </a:ext>
            </a:extLst>
          </p:cNvPr>
          <p:cNvCxnSpPr>
            <a:cxnSpLocks/>
            <a:stCxn id="31" idx="3"/>
            <a:endCxn id="18" idx="1"/>
          </p:cNvCxnSpPr>
          <p:nvPr/>
        </p:nvCxnSpPr>
        <p:spPr>
          <a:xfrm>
            <a:off x="5519508" y="2226178"/>
            <a:ext cx="235754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9F8D620-04B5-868D-E4BF-77C2B16B7CE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924214" y="2626564"/>
            <a:ext cx="1" cy="20589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2EEE128-DCE4-453B-E792-AD082EE86A3F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347247" y="4042273"/>
            <a:ext cx="3" cy="202601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4A1A584-0DA0-3533-2296-8C11DCF25C3A}"/>
              </a:ext>
            </a:extLst>
          </p:cNvPr>
          <p:cNvCxnSpPr>
            <a:cxnSpLocks/>
            <a:stCxn id="34" idx="3"/>
            <a:endCxn id="33" idx="1"/>
          </p:cNvCxnSpPr>
          <p:nvPr/>
        </p:nvCxnSpPr>
        <p:spPr>
          <a:xfrm>
            <a:off x="5516203" y="4587219"/>
            <a:ext cx="239059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E2F3826-4E7D-79B9-3818-3C4A4B690C4E}"/>
              </a:ext>
            </a:extLst>
          </p:cNvPr>
          <p:cNvCxnSpPr>
            <a:cxnSpLocks/>
            <a:stCxn id="34" idx="2"/>
            <a:endCxn id="26" idx="0"/>
          </p:cNvCxnSpPr>
          <p:nvPr/>
        </p:nvCxnSpPr>
        <p:spPr>
          <a:xfrm flipH="1">
            <a:off x="4345189" y="4929563"/>
            <a:ext cx="2061" cy="200004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38A5387-8CD4-64AD-05EF-1183127B8C9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5514142" y="5531469"/>
            <a:ext cx="241120" cy="1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457773A-F217-D225-415E-BE393A4D493B}"/>
              </a:ext>
            </a:extLst>
          </p:cNvPr>
          <p:cNvSpPr/>
          <p:nvPr/>
        </p:nvSpPr>
        <p:spPr>
          <a:xfrm>
            <a:off x="7808206" y="5206670"/>
            <a:ext cx="284962" cy="263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FDFBCA4-FC84-F01E-2727-A272CFA77089}"/>
              </a:ext>
            </a:extLst>
          </p:cNvPr>
          <p:cNvSpPr/>
          <p:nvPr/>
        </p:nvSpPr>
        <p:spPr>
          <a:xfrm>
            <a:off x="7808206" y="5584226"/>
            <a:ext cx="284962" cy="263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9EC8167-0E00-661C-1FD2-4DB8F2DBA6C8}"/>
              </a:ext>
            </a:extLst>
          </p:cNvPr>
          <p:cNvSpPr txBox="1"/>
          <p:nvPr/>
        </p:nvSpPr>
        <p:spPr>
          <a:xfrm>
            <a:off x="8042789" y="1955322"/>
            <a:ext cx="671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Match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5766E1B-A95A-99C3-1B9D-FE0FAB1E18C0}"/>
              </a:ext>
            </a:extLst>
          </p:cNvPr>
          <p:cNvSpPr txBox="1"/>
          <p:nvPr/>
        </p:nvSpPr>
        <p:spPr>
          <a:xfrm>
            <a:off x="6916321" y="2574179"/>
            <a:ext cx="946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match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4ACF939-9744-8F77-F49D-0815C4CD151B}"/>
              </a:ext>
            </a:extLst>
          </p:cNvPr>
          <p:cNvSpPr txBox="1"/>
          <p:nvPr/>
        </p:nvSpPr>
        <p:spPr>
          <a:xfrm>
            <a:off x="8042789" y="5694095"/>
            <a:ext cx="946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match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849E12-E50F-06B7-175D-254A2B23F2F2}"/>
              </a:ext>
            </a:extLst>
          </p:cNvPr>
          <p:cNvSpPr txBox="1"/>
          <p:nvPr/>
        </p:nvSpPr>
        <p:spPr>
          <a:xfrm>
            <a:off x="8034641" y="5061065"/>
            <a:ext cx="671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Match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41A49F8-4EB3-FEF1-FE9A-FAB00DBF4FA9}"/>
              </a:ext>
            </a:extLst>
          </p:cNvPr>
          <p:cNvCxnSpPr>
            <a:cxnSpLocks/>
            <a:stCxn id="6" idx="4"/>
            <a:endCxn id="31" idx="1"/>
          </p:cNvCxnSpPr>
          <p:nvPr/>
        </p:nvCxnSpPr>
        <p:spPr>
          <a:xfrm>
            <a:off x="2678317" y="2226178"/>
            <a:ext cx="503285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1C5610E1-AA5E-597C-318B-469EF3F7463B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10158540" y="1979936"/>
            <a:ext cx="0" cy="852518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442D1E5B-9F68-1D6E-2460-5A8BE693344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5514143" y="805619"/>
            <a:ext cx="1410072" cy="20439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292FDAA-0024-D32B-4CF7-53F0C9EE459A}"/>
              </a:ext>
            </a:extLst>
          </p:cNvPr>
          <p:cNvSpPr txBox="1"/>
          <p:nvPr/>
        </p:nvSpPr>
        <p:spPr>
          <a:xfrm>
            <a:off x="9903969" y="64029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Condition mapping</a:t>
            </a:r>
          </a:p>
        </p:txBody>
      </p:sp>
    </p:spTree>
    <p:extLst>
      <p:ext uri="{BB962C8B-B14F-4D97-AF65-F5344CB8AC3E}">
        <p14:creationId xmlns:p14="http://schemas.microsoft.com/office/powerpoint/2010/main" val="86824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D04B-1BF4-1DA2-4A7F-B44618AB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4B0127C1-185C-3E03-4CB1-7A39353DD175}"/>
              </a:ext>
            </a:extLst>
          </p:cNvPr>
          <p:cNvSpPr/>
          <p:nvPr/>
        </p:nvSpPr>
        <p:spPr>
          <a:xfrm>
            <a:off x="3037245" y="3363356"/>
            <a:ext cx="6889563" cy="281775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</a:rPr>
              <a:t>Drug mapper</a:t>
            </a:r>
          </a:p>
          <a:p>
            <a:r>
              <a:rPr lang="en-US" sz="1000" dirty="0">
                <a:solidFill>
                  <a:schemeClr val="tx1"/>
                </a:solidFill>
              </a:rPr>
              <a:t>Maps each concept class separately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F12F2DE-9975-4C2F-D7D2-BF74C8867446}"/>
              </a:ext>
            </a:extLst>
          </p:cNvPr>
          <p:cNvSpPr/>
          <p:nvPr/>
        </p:nvSpPr>
        <p:spPr>
          <a:xfrm>
            <a:off x="3131117" y="4215509"/>
            <a:ext cx="6693819" cy="1866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2985EF-4C8E-57E5-D14F-D1DB9BC94854}"/>
              </a:ext>
            </a:extLst>
          </p:cNvPr>
          <p:cNvSpPr/>
          <p:nvPr/>
        </p:nvSpPr>
        <p:spPr>
          <a:xfrm>
            <a:off x="3037245" y="521003"/>
            <a:ext cx="7394596" cy="179341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tx1"/>
                </a:solidFill>
              </a:rPr>
              <a:t>Drug structurer</a:t>
            </a:r>
          </a:p>
          <a:p>
            <a:r>
              <a:rPr lang="en-US" sz="1000" dirty="0">
                <a:solidFill>
                  <a:schemeClr val="tx1"/>
                </a:solidFill>
              </a:rPr>
              <a:t>Each step has its own system prompt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AA5E6B-0D8C-CD9F-F250-50AF867F80D7}"/>
              </a:ext>
            </a:extLst>
          </p:cNvPr>
          <p:cNvSpPr/>
          <p:nvPr/>
        </p:nvSpPr>
        <p:spPr>
          <a:xfrm>
            <a:off x="804153" y="94219"/>
            <a:ext cx="2146385" cy="684689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Source terms</a:t>
            </a:r>
          </a:p>
          <a:p>
            <a:r>
              <a:rPr lang="en-US" sz="1000" dirty="0"/>
              <a:t>One row per drug (or device). Can have any number of columns.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00B43-44BB-E4D0-214B-2285E72BCF8B}"/>
              </a:ext>
            </a:extLst>
          </p:cNvPr>
          <p:cNvSpPr/>
          <p:nvPr/>
        </p:nvSpPr>
        <p:spPr>
          <a:xfrm>
            <a:off x="5562895" y="655517"/>
            <a:ext cx="2337906" cy="6182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Drug or device?</a:t>
            </a:r>
          </a:p>
          <a:p>
            <a:r>
              <a:rPr lang="en-US" sz="1000" dirty="0"/>
              <a:t>Use LLM to distinguish between drugs and devices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B1800997-1A8A-244A-F876-AAF085C45832}"/>
              </a:ext>
            </a:extLst>
          </p:cNvPr>
          <p:cNvSpPr/>
          <p:nvPr/>
        </p:nvSpPr>
        <p:spPr>
          <a:xfrm>
            <a:off x="1007887" y="5231160"/>
            <a:ext cx="1715289" cy="851280"/>
          </a:xfrm>
          <a:prstGeom prst="can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Vocabulary</a:t>
            </a:r>
          </a:p>
          <a:p>
            <a:pPr algn="ctr"/>
            <a:r>
              <a:rPr lang="en-US" sz="1600" dirty="0"/>
              <a:t>Database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9E509DED-D9A3-C6C7-5CD0-74969C417292}"/>
              </a:ext>
            </a:extLst>
          </p:cNvPr>
          <p:cNvSpPr/>
          <p:nvPr/>
        </p:nvSpPr>
        <p:spPr>
          <a:xfrm>
            <a:off x="1006356" y="2741303"/>
            <a:ext cx="1715289" cy="491884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 (GPT o3)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2304600-450D-144A-A301-09DC5B0175E1}"/>
              </a:ext>
            </a:extLst>
          </p:cNvPr>
          <p:cNvCxnSpPr>
            <a:cxnSpLocks/>
            <a:stCxn id="23" idx="1"/>
            <a:endCxn id="7" idx="0"/>
          </p:cNvCxnSpPr>
          <p:nvPr/>
        </p:nvCxnSpPr>
        <p:spPr>
          <a:xfrm rot="10800000" flipV="1">
            <a:off x="1864001" y="1417709"/>
            <a:ext cx="1173244" cy="1323593"/>
          </a:xfrm>
          <a:prstGeom prst="bentConnector2">
            <a:avLst/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2AD2D2D-0372-6329-6A12-5F5A557D89CE}"/>
              </a:ext>
            </a:extLst>
          </p:cNvPr>
          <p:cNvSpPr/>
          <p:nvPr/>
        </p:nvSpPr>
        <p:spPr>
          <a:xfrm>
            <a:off x="5566343" y="2469580"/>
            <a:ext cx="2337906" cy="763607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Drug normalizer</a:t>
            </a:r>
          </a:p>
          <a:p>
            <a:r>
              <a:rPr lang="en-US" sz="1000" dirty="0"/>
              <a:t>Identifies unique concepts. Populates </a:t>
            </a:r>
            <a:r>
              <a:rPr lang="en-US" sz="1000" dirty="0" err="1"/>
              <a:t>drug_concept_stage,ds_stage</a:t>
            </a:r>
            <a:r>
              <a:rPr lang="en-US" sz="1000" dirty="0"/>
              <a:t>, and </a:t>
            </a:r>
            <a:r>
              <a:rPr lang="en-US" sz="1000" dirty="0" err="1"/>
              <a:t>internal_relationship_stage</a:t>
            </a:r>
            <a:r>
              <a:rPr lang="en-US" sz="1000" dirty="0"/>
              <a:t> tables.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87BC7C14-1D8D-9FD5-3108-8C94E3EA39D1}"/>
              </a:ext>
            </a:extLst>
          </p:cNvPr>
          <p:cNvCxnSpPr>
            <a:cxnSpLocks/>
            <a:stCxn id="5" idx="3"/>
            <a:endCxn id="16" idx="0"/>
          </p:cNvCxnSpPr>
          <p:nvPr/>
        </p:nvCxnSpPr>
        <p:spPr>
          <a:xfrm>
            <a:off x="7900801" y="964638"/>
            <a:ext cx="1262825" cy="59602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8FCC95F-C183-4CCB-BB06-FFF109665FC4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>
            <a:off x="6734543" y="2314417"/>
            <a:ext cx="753" cy="15516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CAF332C-1E69-50E5-C4B0-867D8E86ED5D}"/>
              </a:ext>
            </a:extLst>
          </p:cNvPr>
          <p:cNvSpPr txBox="1"/>
          <p:nvPr/>
        </p:nvSpPr>
        <p:spPr>
          <a:xfrm>
            <a:off x="6731847" y="1259794"/>
            <a:ext cx="865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Drug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EA8DF6B-EFEB-02E5-7804-55D69D0A4A3E}"/>
              </a:ext>
            </a:extLst>
          </p:cNvPr>
          <p:cNvSpPr txBox="1"/>
          <p:nvPr/>
        </p:nvSpPr>
        <p:spPr>
          <a:xfrm>
            <a:off x="7866575" y="703543"/>
            <a:ext cx="7166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Device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E2DBB5E-1D0D-615B-D58A-D3993A8F574F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2723176" y="5656800"/>
            <a:ext cx="503285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D3F02F73-EBAA-6004-9836-EB28FEFAC2A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2950538" y="436564"/>
            <a:ext cx="3781310" cy="21895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AD32BB1-5BAD-290C-C43E-DDBBF54B7DF9}"/>
              </a:ext>
            </a:extLst>
          </p:cNvPr>
          <p:cNvSpPr/>
          <p:nvPr/>
        </p:nvSpPr>
        <p:spPr>
          <a:xfrm>
            <a:off x="3131117" y="1560658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Per row extraction</a:t>
            </a:r>
          </a:p>
          <a:p>
            <a:r>
              <a:rPr lang="en-US" sz="1000" dirty="0"/>
              <a:t>Extract full product name, brand name, supplier, dose form, and box size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DA6E17-6510-EF1C-FD3D-545CF1CC129E}"/>
              </a:ext>
            </a:extLst>
          </p:cNvPr>
          <p:cNvSpPr/>
          <p:nvPr/>
        </p:nvSpPr>
        <p:spPr>
          <a:xfrm>
            <a:off x="5562895" y="1560658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Per ingredient extraction</a:t>
            </a:r>
          </a:p>
          <a:p>
            <a:r>
              <a:rPr lang="en-US" sz="1000" dirty="0"/>
              <a:t>Extract ingredient, amount, numerator, and denominator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C26FB3-FFBF-630B-88DD-B7D940C7A551}"/>
              </a:ext>
            </a:extLst>
          </p:cNvPr>
          <p:cNvSpPr/>
          <p:nvPr/>
        </p:nvSpPr>
        <p:spPr>
          <a:xfrm>
            <a:off x="7994673" y="1560658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Device extraction</a:t>
            </a:r>
          </a:p>
          <a:p>
            <a:r>
              <a:rPr lang="en-US" sz="1000" dirty="0"/>
              <a:t>Extract full device name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24613FF-C39C-1550-66C1-45ECCF23742B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rot="5400000">
            <a:off x="5372509" y="201319"/>
            <a:ext cx="286900" cy="24317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F6E1762-0873-B8B8-CA86-C503D32D378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731848" y="1273758"/>
            <a:ext cx="0" cy="28690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C2793493-ACFF-11ED-654F-942EB72992AC}"/>
              </a:ext>
            </a:extLst>
          </p:cNvPr>
          <p:cNvSpPr/>
          <p:nvPr/>
        </p:nvSpPr>
        <p:spPr>
          <a:xfrm>
            <a:off x="7380919" y="4322369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OHDSI vector search API</a:t>
            </a:r>
          </a:p>
          <a:p>
            <a:r>
              <a:rPr lang="en-US" sz="1000" dirty="0"/>
              <a:t>Use the public OHDSI vector search API (Hecate).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6BDDD51-17CC-B687-861C-27F0AB09CA46}"/>
              </a:ext>
            </a:extLst>
          </p:cNvPr>
          <p:cNvSpPr/>
          <p:nvPr/>
        </p:nvSpPr>
        <p:spPr>
          <a:xfrm>
            <a:off x="7380919" y="5155613"/>
            <a:ext cx="2337906" cy="80077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LLM concept selection</a:t>
            </a:r>
          </a:p>
          <a:p>
            <a:r>
              <a:rPr lang="en-US" sz="1000" dirty="0"/>
              <a:t>Use the LLM to select exact matches using reasoning, or declare if no exact match exists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369A68F-08E7-C9C9-CC9A-965D5F6C04BD}"/>
              </a:ext>
            </a:extLst>
          </p:cNvPr>
          <p:cNvSpPr/>
          <p:nvPr/>
        </p:nvSpPr>
        <p:spPr>
          <a:xfrm>
            <a:off x="5570612" y="3457079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Split by concept class</a:t>
            </a:r>
          </a:p>
          <a:p>
            <a:r>
              <a:rPr lang="en-US" sz="1000" dirty="0"/>
              <a:t>Into ingredient, brand name, supplier, dose form, unit, or device.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074A827-2319-69C9-C07B-256D2BE36034}"/>
              </a:ext>
            </a:extLst>
          </p:cNvPr>
          <p:cNvSpPr/>
          <p:nvPr/>
        </p:nvSpPr>
        <p:spPr>
          <a:xfrm>
            <a:off x="4040129" y="4322369"/>
            <a:ext cx="2337906" cy="800772"/>
          </a:xfrm>
          <a:prstGeom prst="rect">
            <a:avLst/>
          </a:prstGeom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Verbatim text matching</a:t>
            </a:r>
          </a:p>
          <a:p>
            <a:r>
              <a:rPr lang="en-US" sz="1000" dirty="0"/>
              <a:t>Finds target concepts where the name or synonym matches the source term, allowing for some lexical variations.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A5B990F-31A0-19EE-6454-33F4E50EA606}"/>
              </a:ext>
            </a:extLst>
          </p:cNvPr>
          <p:cNvSpPr/>
          <p:nvPr/>
        </p:nvSpPr>
        <p:spPr>
          <a:xfrm>
            <a:off x="3232706" y="5332087"/>
            <a:ext cx="2337906" cy="6182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Download terms</a:t>
            </a:r>
          </a:p>
          <a:p>
            <a:r>
              <a:rPr lang="en-US" sz="1000" dirty="0"/>
              <a:t>Retrieves names and synonyms of concepts.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BD6BA87-B4E0-777E-8D73-0B5499637A9E}"/>
              </a:ext>
            </a:extLst>
          </p:cNvPr>
          <p:cNvCxnSpPr>
            <a:cxnSpLocks/>
            <a:stCxn id="21" idx="2"/>
            <a:endCxn id="90" idx="0"/>
          </p:cNvCxnSpPr>
          <p:nvPr/>
        </p:nvCxnSpPr>
        <p:spPr>
          <a:xfrm>
            <a:off x="6735296" y="3233187"/>
            <a:ext cx="4269" cy="223892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74F0E75-8AEE-0109-B8DB-F7B956E5E0DD}"/>
              </a:ext>
            </a:extLst>
          </p:cNvPr>
          <p:cNvSpPr txBox="1"/>
          <p:nvPr/>
        </p:nvSpPr>
        <p:spPr>
          <a:xfrm>
            <a:off x="3058931" y="3933694"/>
            <a:ext cx="1634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Per concept class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FB68874-001C-B0A3-14B8-B7CD81960F80}"/>
              </a:ext>
            </a:extLst>
          </p:cNvPr>
          <p:cNvCxnSpPr>
            <a:cxnSpLocks/>
            <a:stCxn id="132" idx="3"/>
            <a:endCxn id="88" idx="1"/>
          </p:cNvCxnSpPr>
          <p:nvPr/>
        </p:nvCxnSpPr>
        <p:spPr>
          <a:xfrm>
            <a:off x="6380966" y="4637621"/>
            <a:ext cx="999953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B8A79AE9-2AC2-1F42-2E4F-831C2785E7AF}"/>
              </a:ext>
            </a:extLst>
          </p:cNvPr>
          <p:cNvSpPr txBox="1"/>
          <p:nvPr/>
        </p:nvSpPr>
        <p:spPr>
          <a:xfrm>
            <a:off x="6366446" y="4369397"/>
            <a:ext cx="946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match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4D7FA87-4115-27EB-C22D-01F2282F5F5F}"/>
              </a:ext>
            </a:extLst>
          </p:cNvPr>
          <p:cNvSpPr/>
          <p:nvPr/>
        </p:nvSpPr>
        <p:spPr>
          <a:xfrm>
            <a:off x="5947092" y="4449142"/>
            <a:ext cx="433874" cy="376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652A332-6F22-CF7B-A215-C11388DB005A}"/>
              </a:ext>
            </a:extLst>
          </p:cNvPr>
          <p:cNvSpPr/>
          <p:nvPr/>
        </p:nvSpPr>
        <p:spPr>
          <a:xfrm>
            <a:off x="5778230" y="4735964"/>
            <a:ext cx="433874" cy="376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AD3AF30-29D1-8458-CD7C-D251448F848B}"/>
              </a:ext>
            </a:extLst>
          </p:cNvPr>
          <p:cNvSpPr/>
          <p:nvPr/>
        </p:nvSpPr>
        <p:spPr>
          <a:xfrm>
            <a:off x="3289918" y="5332087"/>
            <a:ext cx="433874" cy="376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6A9DA18A-FD66-E8DB-836E-72CACC633AFC}"/>
              </a:ext>
            </a:extLst>
          </p:cNvPr>
          <p:cNvCxnSpPr>
            <a:cxnSpLocks/>
            <a:stCxn id="135" idx="0"/>
            <a:endCxn id="91" idx="1"/>
          </p:cNvCxnSpPr>
          <p:nvPr/>
        </p:nvCxnSpPr>
        <p:spPr>
          <a:xfrm rot="5400000" flipH="1" flipV="1">
            <a:off x="3468826" y="4760784"/>
            <a:ext cx="609332" cy="53327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D9C3F0ED-D724-0F93-CAFF-87D6B74DF3DD}"/>
              </a:ext>
            </a:extLst>
          </p:cNvPr>
          <p:cNvSpPr txBox="1"/>
          <p:nvPr/>
        </p:nvSpPr>
        <p:spPr>
          <a:xfrm>
            <a:off x="5947092" y="5138330"/>
            <a:ext cx="671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Match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DED2982-B67E-78B8-1D51-6A21CB23A899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>
            <a:off x="8549872" y="4952873"/>
            <a:ext cx="0" cy="20274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D762FBA2-1296-363B-6BC1-7C99823E34D3}"/>
              </a:ext>
            </a:extLst>
          </p:cNvPr>
          <p:cNvSpPr/>
          <p:nvPr/>
        </p:nvSpPr>
        <p:spPr>
          <a:xfrm>
            <a:off x="6208302" y="5581575"/>
            <a:ext cx="930975" cy="331494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Matches</a:t>
            </a:r>
          </a:p>
        </p:txBody>
      </p: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FF500F6D-A1B9-85FE-3F61-08DFC4A75F41}"/>
              </a:ext>
            </a:extLst>
          </p:cNvPr>
          <p:cNvCxnSpPr>
            <a:cxnSpLocks/>
            <a:stCxn id="134" idx="2"/>
            <a:endCxn id="154" idx="1"/>
          </p:cNvCxnSpPr>
          <p:nvPr/>
        </p:nvCxnSpPr>
        <p:spPr>
          <a:xfrm rot="16200000" flipH="1">
            <a:off x="5784534" y="5323554"/>
            <a:ext cx="634400" cy="213135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58076AE-A340-982F-E7A7-E80525F1BC14}"/>
              </a:ext>
            </a:extLst>
          </p:cNvPr>
          <p:cNvSpPr/>
          <p:nvPr/>
        </p:nvSpPr>
        <p:spPr>
          <a:xfrm>
            <a:off x="7380919" y="5558843"/>
            <a:ext cx="433874" cy="376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569AD6EC-570A-54D4-3D48-830BD452FBA8}"/>
              </a:ext>
            </a:extLst>
          </p:cNvPr>
          <p:cNvCxnSpPr>
            <a:cxnSpLocks/>
            <a:stCxn id="160" idx="1"/>
            <a:endCxn id="154" idx="3"/>
          </p:cNvCxnSpPr>
          <p:nvPr/>
        </p:nvCxnSpPr>
        <p:spPr>
          <a:xfrm flipH="1">
            <a:off x="7139277" y="5747322"/>
            <a:ext cx="241642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80064875-C45F-C7C0-10E7-5271FE583A5B}"/>
              </a:ext>
            </a:extLst>
          </p:cNvPr>
          <p:cNvCxnSpPr>
            <a:cxnSpLocks/>
            <a:stCxn id="87" idx="1"/>
            <a:endCxn id="7" idx="2"/>
          </p:cNvCxnSpPr>
          <p:nvPr/>
        </p:nvCxnSpPr>
        <p:spPr>
          <a:xfrm rot="10800000">
            <a:off x="1864001" y="3233188"/>
            <a:ext cx="1173244" cy="1539045"/>
          </a:xfrm>
          <a:prstGeom prst="bentConnector2">
            <a:avLst/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8BD0A7AF-C11F-D11F-8E56-4986CAE76A51}"/>
              </a:ext>
            </a:extLst>
          </p:cNvPr>
          <p:cNvSpPr/>
          <p:nvPr/>
        </p:nvSpPr>
        <p:spPr>
          <a:xfrm>
            <a:off x="9312671" y="6267826"/>
            <a:ext cx="1507813" cy="356460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Input for Boiler</a:t>
            </a:r>
          </a:p>
        </p:txBody>
      </p: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2CD15E06-3295-F87B-D56C-4C84529304DC}"/>
              </a:ext>
            </a:extLst>
          </p:cNvPr>
          <p:cNvCxnSpPr>
            <a:cxnSpLocks/>
            <a:stCxn id="154" idx="2"/>
            <a:endCxn id="175" idx="1"/>
          </p:cNvCxnSpPr>
          <p:nvPr/>
        </p:nvCxnSpPr>
        <p:spPr>
          <a:xfrm rot="16200000" flipH="1">
            <a:off x="7726737" y="4860121"/>
            <a:ext cx="532987" cy="263888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EB063C53-2F91-4607-F696-D7431BC9A003}"/>
              </a:ext>
            </a:extLst>
          </p:cNvPr>
          <p:cNvCxnSpPr>
            <a:cxnSpLocks/>
            <a:stCxn id="21" idx="3"/>
            <a:endCxn id="175" idx="0"/>
          </p:cNvCxnSpPr>
          <p:nvPr/>
        </p:nvCxnSpPr>
        <p:spPr>
          <a:xfrm>
            <a:off x="7904249" y="2851384"/>
            <a:ext cx="2162329" cy="3416442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92CF79D1-6766-7708-C6ED-2C23B96EA954}"/>
              </a:ext>
            </a:extLst>
          </p:cNvPr>
          <p:cNvSpPr txBox="1"/>
          <p:nvPr/>
        </p:nvSpPr>
        <p:spPr>
          <a:xfrm>
            <a:off x="10034913" y="5641247"/>
            <a:ext cx="6096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 err="1"/>
              <a:t>drug_concept_stage</a:t>
            </a:r>
            <a:endParaRPr lang="en-US" sz="1050" dirty="0"/>
          </a:p>
          <a:p>
            <a:r>
              <a:rPr lang="en-US" sz="1050" dirty="0" err="1"/>
              <a:t>ds_stage</a:t>
            </a:r>
            <a:endParaRPr lang="en-US" sz="1050" dirty="0"/>
          </a:p>
          <a:p>
            <a:r>
              <a:rPr lang="en-US" sz="1050" dirty="0" err="1"/>
              <a:t>internal_relationship_stage</a:t>
            </a:r>
            <a:endParaRPr lang="en-US" sz="105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CFAE4F9-DD93-941B-C585-758C974A9DF9}"/>
              </a:ext>
            </a:extLst>
          </p:cNvPr>
          <p:cNvSpPr txBox="1"/>
          <p:nvPr/>
        </p:nvSpPr>
        <p:spPr>
          <a:xfrm>
            <a:off x="6877636" y="6453602"/>
            <a:ext cx="243503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dirty="0" err="1"/>
              <a:t>relationship_to_concept</a:t>
            </a:r>
            <a:endParaRPr lang="en-US" sz="1050" dirty="0"/>
          </a:p>
        </p:txBody>
      </p: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4FE299E6-7833-8D13-5D3B-669B91E5350A}"/>
              </a:ext>
            </a:extLst>
          </p:cNvPr>
          <p:cNvCxnSpPr>
            <a:cxnSpLocks/>
            <a:stCxn id="90" idx="1"/>
            <a:endCxn id="91" idx="0"/>
          </p:cNvCxnSpPr>
          <p:nvPr/>
        </p:nvCxnSpPr>
        <p:spPr>
          <a:xfrm rot="10800000" flipV="1">
            <a:off x="5209082" y="3772331"/>
            <a:ext cx="361530" cy="55003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6A325D-A26F-E705-AFFA-1C2157BDACF3}"/>
              </a:ext>
            </a:extLst>
          </p:cNvPr>
          <p:cNvSpPr txBox="1"/>
          <p:nvPr/>
        </p:nvSpPr>
        <p:spPr>
          <a:xfrm>
            <a:off x="10439372" y="64029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Drug mapping</a:t>
            </a:r>
          </a:p>
        </p:txBody>
      </p:sp>
    </p:spTree>
    <p:extLst>
      <p:ext uri="{BB962C8B-B14F-4D97-AF65-F5344CB8AC3E}">
        <p14:creationId xmlns:p14="http://schemas.microsoft.com/office/powerpoint/2010/main" val="3133460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B137-0445-DA85-5B4D-41471D2FF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5E420B-112D-DABE-5ABD-F3142388D433}"/>
              </a:ext>
            </a:extLst>
          </p:cNvPr>
          <p:cNvSpPr/>
          <p:nvPr/>
        </p:nvSpPr>
        <p:spPr>
          <a:xfrm>
            <a:off x="3812843" y="405402"/>
            <a:ext cx="2337907" cy="684689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Source terms</a:t>
            </a:r>
          </a:p>
          <a:p>
            <a:r>
              <a:rPr lang="en-US" sz="1000" dirty="0"/>
              <a:t>Procedure terms both in the original language and in English.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EDC67-6DAD-971E-640E-D9746AD5DF95}"/>
              </a:ext>
            </a:extLst>
          </p:cNvPr>
          <p:cNvSpPr/>
          <p:nvPr/>
        </p:nvSpPr>
        <p:spPr>
          <a:xfrm>
            <a:off x="6385565" y="879480"/>
            <a:ext cx="2337906" cy="733879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Term cleaning</a:t>
            </a:r>
          </a:p>
          <a:p>
            <a:r>
              <a:rPr lang="en-US" sz="1000" dirty="0"/>
              <a:t>Removes uninformative parts like “without contrast” from the English term.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C807B988-F727-0706-309F-AF8325833CE9}"/>
              </a:ext>
            </a:extLst>
          </p:cNvPr>
          <p:cNvSpPr/>
          <p:nvPr/>
        </p:nvSpPr>
        <p:spPr>
          <a:xfrm>
            <a:off x="1599635" y="1742666"/>
            <a:ext cx="1715289" cy="851280"/>
          </a:xfrm>
          <a:prstGeom prst="can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Vocabulary</a:t>
            </a:r>
          </a:p>
          <a:p>
            <a:pPr algn="ctr"/>
            <a:r>
              <a:rPr lang="en-US" sz="1600" dirty="0"/>
              <a:t>Database</a:t>
            </a:r>
          </a:p>
        </p:txBody>
      </p:sp>
      <p:sp>
        <p:nvSpPr>
          <p:cNvPr id="7" name="Terminator 6">
            <a:extLst>
              <a:ext uri="{FF2B5EF4-FFF2-40B4-BE49-F238E27FC236}">
                <a16:creationId xmlns:a16="http://schemas.microsoft.com/office/drawing/2014/main" id="{8DC50412-8EF2-1393-0622-D6C730D22978}"/>
              </a:ext>
            </a:extLst>
          </p:cNvPr>
          <p:cNvSpPr/>
          <p:nvPr/>
        </p:nvSpPr>
        <p:spPr>
          <a:xfrm>
            <a:off x="1583718" y="1001507"/>
            <a:ext cx="1727900" cy="491884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 (GPT o3)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265A955-5E2E-65D6-47E2-1806DCF495ED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rot="10800000" flipV="1">
            <a:off x="3311619" y="1246419"/>
            <a:ext cx="3073947" cy="10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8D18713-CAF1-F2AC-9225-C187564AB651}"/>
              </a:ext>
            </a:extLst>
          </p:cNvPr>
          <p:cNvSpPr/>
          <p:nvPr/>
        </p:nvSpPr>
        <p:spPr>
          <a:xfrm>
            <a:off x="6391869" y="1767920"/>
            <a:ext cx="2337906" cy="800772"/>
          </a:xfrm>
          <a:prstGeom prst="rect">
            <a:avLst/>
          </a:prstGeom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Verbatim text matching</a:t>
            </a:r>
          </a:p>
          <a:p>
            <a:r>
              <a:rPr lang="en-US" sz="1000" dirty="0"/>
              <a:t>Finds concepts where the name or synonym matches the English source term, allowing for lexical variations.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E6DB84-4CB6-3DCD-6044-1240CEBD02A5}"/>
              </a:ext>
            </a:extLst>
          </p:cNvPr>
          <p:cNvSpPr/>
          <p:nvPr/>
        </p:nvSpPr>
        <p:spPr>
          <a:xfrm>
            <a:off x="3828761" y="3136680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Embedding vector search</a:t>
            </a:r>
          </a:p>
          <a:p>
            <a:r>
              <a:rPr lang="en-US" sz="1000" dirty="0"/>
              <a:t>Find target concepts based on name, synonyms, and </a:t>
            </a:r>
            <a:r>
              <a:rPr lang="en-US" sz="1000"/>
              <a:t>mapped concepts.</a:t>
            </a:r>
            <a:endParaRPr lang="en-US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54D0A6-0FF9-EE42-1D99-729AC6B9FFD8}"/>
              </a:ext>
            </a:extLst>
          </p:cNvPr>
          <p:cNvSpPr/>
          <p:nvPr/>
        </p:nvSpPr>
        <p:spPr>
          <a:xfrm>
            <a:off x="3828761" y="5079089"/>
            <a:ext cx="2337906" cy="803806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Add concept context</a:t>
            </a:r>
          </a:p>
          <a:p>
            <a:r>
              <a:rPr lang="en-US" sz="1000" dirty="0"/>
              <a:t>Retrieve the context of the retrieved target concepts, including synonyms, parents, and children.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DFFF26-EB37-F1D3-6000-9AF45CC9254C}"/>
              </a:ext>
            </a:extLst>
          </p:cNvPr>
          <p:cNvSpPr/>
          <p:nvPr/>
        </p:nvSpPr>
        <p:spPr>
          <a:xfrm>
            <a:off x="6391869" y="5016426"/>
            <a:ext cx="2337906" cy="9143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LLM concept selection</a:t>
            </a:r>
          </a:p>
          <a:p>
            <a:r>
              <a:rPr lang="en-US" sz="1000" dirty="0"/>
              <a:t>Use the LLM to select exact matches using reasoning based on the English and original terms and target context, or declare if no exact match exists.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DBAD46-DE7C-EC8F-FA0E-130A4EEA65FF}"/>
              </a:ext>
            </a:extLst>
          </p:cNvPr>
          <p:cNvSpPr/>
          <p:nvPr/>
        </p:nvSpPr>
        <p:spPr>
          <a:xfrm>
            <a:off x="9626194" y="3608442"/>
            <a:ext cx="1832742" cy="272005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Mapping results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F36A4D-32FC-3D21-101B-02BDA6018581}"/>
              </a:ext>
            </a:extLst>
          </p:cNvPr>
          <p:cNvSpPr/>
          <p:nvPr/>
        </p:nvSpPr>
        <p:spPr>
          <a:xfrm>
            <a:off x="3818209" y="1859185"/>
            <a:ext cx="2337906" cy="618241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Download terms</a:t>
            </a:r>
          </a:p>
          <a:p>
            <a:r>
              <a:rPr lang="en-US" sz="1000" dirty="0"/>
              <a:t>Retrieves names and synonyms of standard concepts.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4D9496-53D0-9466-DC29-562B65F30AF8}"/>
              </a:ext>
            </a:extLst>
          </p:cNvPr>
          <p:cNvSpPr/>
          <p:nvPr/>
        </p:nvSpPr>
        <p:spPr>
          <a:xfrm>
            <a:off x="9785832" y="3964320"/>
            <a:ext cx="1509488" cy="1016443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Exact matches</a:t>
            </a:r>
          </a:p>
          <a:p>
            <a:r>
              <a:rPr lang="en-US" sz="1000" dirty="0"/>
              <a:t>Source terms for which an exactly matching standard concept was found.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BF6B42D-8DAC-D500-6590-D0464699F28A}"/>
              </a:ext>
            </a:extLst>
          </p:cNvPr>
          <p:cNvSpPr/>
          <p:nvPr/>
        </p:nvSpPr>
        <p:spPr>
          <a:xfrm>
            <a:off x="5105038" y="4042824"/>
            <a:ext cx="2337907" cy="684689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Vector search results</a:t>
            </a:r>
          </a:p>
          <a:p>
            <a:r>
              <a:rPr lang="en-US" sz="1000" dirty="0"/>
              <a:t>By default containing the top 25 best matches per (cleaned) source term.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BCF964-CB11-ADED-86DD-1E6752D4F83E}"/>
              </a:ext>
            </a:extLst>
          </p:cNvPr>
          <p:cNvSpPr/>
          <p:nvPr/>
        </p:nvSpPr>
        <p:spPr>
          <a:xfrm>
            <a:off x="9785833" y="5147892"/>
            <a:ext cx="1509487" cy="1016443"/>
          </a:xfrm>
          <a:prstGeom prst="roundRect">
            <a:avLst/>
          </a:prstGeom>
          <a:solidFill>
            <a:srgbClr val="68AED5"/>
          </a:solidFill>
          <a:ln>
            <a:solidFill>
              <a:srgbClr val="44728E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/>
              <a:t>No matches</a:t>
            </a:r>
          </a:p>
          <a:p>
            <a:r>
              <a:rPr lang="en-US" sz="1000" dirty="0"/>
              <a:t>Source terms for which no exact match is believed to exist.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912DEC58-5D4E-D2D8-3F32-C188664E51AE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 rot="5400000">
            <a:off x="5995274" y="1571132"/>
            <a:ext cx="567988" cy="25631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9056B21-60D9-6EA5-12EA-CAA924AFD1BC}"/>
              </a:ext>
            </a:extLst>
          </p:cNvPr>
          <p:cNvCxnSpPr>
            <a:cxnSpLocks/>
            <a:stCxn id="113" idx="3"/>
            <a:endCxn id="32" idx="1"/>
          </p:cNvCxnSpPr>
          <p:nvPr/>
        </p:nvCxnSpPr>
        <p:spPr>
          <a:xfrm flipV="1">
            <a:off x="8729775" y="4472542"/>
            <a:ext cx="1056057" cy="8081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8E0AE736-7A77-498D-250B-BE38ADFE9FDD}"/>
              </a:ext>
            </a:extLst>
          </p:cNvPr>
          <p:cNvCxnSpPr>
            <a:cxnSpLocks/>
            <a:stCxn id="6" idx="2"/>
            <a:endCxn id="26" idx="1"/>
          </p:cNvCxnSpPr>
          <p:nvPr/>
        </p:nvCxnSpPr>
        <p:spPr>
          <a:xfrm rot="10800000" flipH="1" flipV="1">
            <a:off x="1599635" y="2168306"/>
            <a:ext cx="2229126" cy="3312686"/>
          </a:xfrm>
          <a:prstGeom prst="bentConnector3">
            <a:avLst>
              <a:gd name="adj1" fmla="val -6101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6ACFC447-9FE6-37DA-E4AE-807D9EF3689D}"/>
              </a:ext>
            </a:extLst>
          </p:cNvPr>
          <p:cNvCxnSpPr>
            <a:cxnSpLocks/>
            <a:stCxn id="27" idx="2"/>
            <a:endCxn id="7" idx="1"/>
          </p:cNvCxnSpPr>
          <p:nvPr/>
        </p:nvCxnSpPr>
        <p:spPr>
          <a:xfrm rot="5400000" flipH="1">
            <a:off x="2230611" y="600556"/>
            <a:ext cx="4683318" cy="5977104"/>
          </a:xfrm>
          <a:prstGeom prst="bentConnector4">
            <a:avLst>
              <a:gd name="adj1" fmla="val -4881"/>
              <a:gd name="adj2" fmla="val 103825"/>
            </a:avLst>
          </a:prstGeom>
          <a:ln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3F62245-6FF9-23B1-AD0E-BD2AFD5B58DF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7554518" y="1613359"/>
            <a:ext cx="6304" cy="154561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62AA8A4-E173-F832-4705-21B8620E0825}"/>
              </a:ext>
            </a:extLst>
          </p:cNvPr>
          <p:cNvCxnSpPr>
            <a:cxnSpLocks/>
            <a:stCxn id="31" idx="3"/>
            <a:endCxn id="18" idx="1"/>
          </p:cNvCxnSpPr>
          <p:nvPr/>
        </p:nvCxnSpPr>
        <p:spPr>
          <a:xfrm>
            <a:off x="6156115" y="2168306"/>
            <a:ext cx="235754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7E810F5-3F9C-9C33-D15E-12E138B9234D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6166667" y="5473597"/>
            <a:ext cx="225202" cy="7395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8730053-240B-1AD5-BA1F-D75F973D244C}"/>
              </a:ext>
            </a:extLst>
          </p:cNvPr>
          <p:cNvSpPr/>
          <p:nvPr/>
        </p:nvSpPr>
        <p:spPr>
          <a:xfrm>
            <a:off x="8444813" y="5148798"/>
            <a:ext cx="284962" cy="263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CFA6867-CB1B-5FAE-B9FD-4DA5F914507F}"/>
              </a:ext>
            </a:extLst>
          </p:cNvPr>
          <p:cNvSpPr/>
          <p:nvPr/>
        </p:nvSpPr>
        <p:spPr>
          <a:xfrm>
            <a:off x="8444813" y="5526354"/>
            <a:ext cx="284962" cy="263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6B744F8-2958-1C43-606F-5DB3C7355209}"/>
              </a:ext>
            </a:extLst>
          </p:cNvPr>
          <p:cNvSpPr txBox="1"/>
          <p:nvPr/>
        </p:nvSpPr>
        <p:spPr>
          <a:xfrm>
            <a:off x="8679396" y="1897450"/>
            <a:ext cx="671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Match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706C0CF-7401-B617-7D03-3DFC1B49C7AB}"/>
              </a:ext>
            </a:extLst>
          </p:cNvPr>
          <p:cNvSpPr txBox="1"/>
          <p:nvPr/>
        </p:nvSpPr>
        <p:spPr>
          <a:xfrm>
            <a:off x="7681382" y="2539596"/>
            <a:ext cx="946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match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9D7C131-D08E-0C93-BBDF-20202B3344EB}"/>
              </a:ext>
            </a:extLst>
          </p:cNvPr>
          <p:cNvSpPr txBox="1"/>
          <p:nvPr/>
        </p:nvSpPr>
        <p:spPr>
          <a:xfrm>
            <a:off x="8679396" y="5890676"/>
            <a:ext cx="946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 match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C484885-ED54-08D0-18EC-47F5620AC230}"/>
              </a:ext>
            </a:extLst>
          </p:cNvPr>
          <p:cNvSpPr txBox="1"/>
          <p:nvPr/>
        </p:nvSpPr>
        <p:spPr>
          <a:xfrm>
            <a:off x="8671248" y="5003193"/>
            <a:ext cx="671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Match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4EC1E64-E78B-CE0E-EE0B-6823706A43BB}"/>
              </a:ext>
            </a:extLst>
          </p:cNvPr>
          <p:cNvCxnSpPr>
            <a:cxnSpLocks/>
            <a:stCxn id="6" idx="4"/>
            <a:endCxn id="31" idx="1"/>
          </p:cNvCxnSpPr>
          <p:nvPr/>
        </p:nvCxnSpPr>
        <p:spPr>
          <a:xfrm>
            <a:off x="3314924" y="2168306"/>
            <a:ext cx="503285" cy="0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Elbow Connector 144">
            <a:extLst>
              <a:ext uri="{FF2B5EF4-FFF2-40B4-BE49-F238E27FC236}">
                <a16:creationId xmlns:a16="http://schemas.microsoft.com/office/drawing/2014/main" id="{3738BC65-7944-01F3-2C83-7718FE5F0880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6150750" y="747747"/>
            <a:ext cx="1403768" cy="13173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0130A20-F833-F328-C00F-2163BC29E5CC}"/>
              </a:ext>
            </a:extLst>
          </p:cNvPr>
          <p:cNvSpPr/>
          <p:nvPr/>
        </p:nvSpPr>
        <p:spPr>
          <a:xfrm>
            <a:off x="6391869" y="3136641"/>
            <a:ext cx="2337906" cy="630504"/>
          </a:xfrm>
          <a:prstGeom prst="rect">
            <a:avLst/>
          </a:prstGeom>
          <a:solidFill>
            <a:srgbClr val="336B91"/>
          </a:solidFill>
          <a:ln>
            <a:solidFill>
              <a:srgbClr val="1E4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Embedding vector search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Find target concepts based on name, synonyms, and mapped concepts.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5F45A0ED-97A6-46B2-DFFB-127B970472F7}"/>
              </a:ext>
            </a:extLst>
          </p:cNvPr>
          <p:cNvCxnSpPr>
            <a:cxnSpLocks/>
            <a:stCxn id="18" idx="3"/>
            <a:endCxn id="32" idx="1"/>
          </p:cNvCxnSpPr>
          <p:nvPr/>
        </p:nvCxnSpPr>
        <p:spPr>
          <a:xfrm>
            <a:off x="8729775" y="2168306"/>
            <a:ext cx="1056057" cy="23042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06F6E8-F6DC-694D-E6D3-E04A62444979}"/>
              </a:ext>
            </a:extLst>
          </p:cNvPr>
          <p:cNvSpPr txBox="1"/>
          <p:nvPr/>
        </p:nvSpPr>
        <p:spPr>
          <a:xfrm>
            <a:off x="3820494" y="2817496"/>
            <a:ext cx="1192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Original term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070579-2EA3-1303-17D1-55203AF891F6}"/>
              </a:ext>
            </a:extLst>
          </p:cNvPr>
          <p:cNvSpPr txBox="1"/>
          <p:nvPr/>
        </p:nvSpPr>
        <p:spPr>
          <a:xfrm>
            <a:off x="7576297" y="2814282"/>
            <a:ext cx="11471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English term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6A47F62-10B7-9698-682D-037E9D191756}"/>
              </a:ext>
            </a:extLst>
          </p:cNvPr>
          <p:cNvCxnSpPr>
            <a:cxnSpLocks/>
            <a:stCxn id="18" idx="2"/>
            <a:endCxn id="2" idx="0"/>
          </p:cNvCxnSpPr>
          <p:nvPr/>
        </p:nvCxnSpPr>
        <p:spPr>
          <a:xfrm>
            <a:off x="7560822" y="2568692"/>
            <a:ext cx="0" cy="567949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55957C1-A64C-85F4-E2D8-C81EDE6473C1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 rot="16200000" flipH="1">
            <a:off x="5498033" y="3266865"/>
            <a:ext cx="275640" cy="12762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0E9D742-A560-5198-E59A-2303032E4788}"/>
              </a:ext>
            </a:extLst>
          </p:cNvPr>
          <p:cNvCxnSpPr>
            <a:cxnSpLocks/>
            <a:stCxn id="2" idx="2"/>
            <a:endCxn id="34" idx="0"/>
          </p:cNvCxnSpPr>
          <p:nvPr/>
        </p:nvCxnSpPr>
        <p:spPr>
          <a:xfrm rot="5400000">
            <a:off x="6779568" y="3261569"/>
            <a:ext cx="275679" cy="12868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23820F71-1AA7-DDCF-0FD1-FCD2BC6CF328}"/>
              </a:ext>
            </a:extLst>
          </p:cNvPr>
          <p:cNvCxnSpPr>
            <a:cxnSpLocks/>
            <a:stCxn id="34" idx="2"/>
            <a:endCxn id="26" idx="0"/>
          </p:cNvCxnSpPr>
          <p:nvPr/>
        </p:nvCxnSpPr>
        <p:spPr>
          <a:xfrm rot="5400000">
            <a:off x="5460065" y="4265162"/>
            <a:ext cx="351576" cy="12762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rminator 64">
            <a:extLst>
              <a:ext uri="{FF2B5EF4-FFF2-40B4-BE49-F238E27FC236}">
                <a16:creationId xmlns:a16="http://schemas.microsoft.com/office/drawing/2014/main" id="{2D54F8BE-8F0B-094B-102E-6D7F2C55B776}"/>
              </a:ext>
            </a:extLst>
          </p:cNvPr>
          <p:cNvSpPr/>
          <p:nvPr/>
        </p:nvSpPr>
        <p:spPr>
          <a:xfrm>
            <a:off x="1560073" y="3136641"/>
            <a:ext cx="1727900" cy="630503"/>
          </a:xfrm>
          <a:prstGeom prst="flowChartTerminator">
            <a:avLst/>
          </a:prstGeom>
          <a:solidFill>
            <a:srgbClr val="EB6622"/>
          </a:solidFill>
          <a:ln>
            <a:solidFill>
              <a:srgbClr val="97421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OHDSI vector search API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F8097B-905A-9C26-66DB-742A674A3C62}"/>
              </a:ext>
            </a:extLst>
          </p:cNvPr>
          <p:cNvCxnSpPr>
            <a:cxnSpLocks/>
            <a:stCxn id="65" idx="3"/>
            <a:endCxn id="21" idx="1"/>
          </p:cNvCxnSpPr>
          <p:nvPr/>
        </p:nvCxnSpPr>
        <p:spPr>
          <a:xfrm>
            <a:off x="3287973" y="3451893"/>
            <a:ext cx="540788" cy="39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5CF5A62-250A-BDE1-1814-282077A2F82F}"/>
              </a:ext>
            </a:extLst>
          </p:cNvPr>
          <p:cNvCxnSpPr>
            <a:cxnSpLocks/>
            <a:stCxn id="116" idx="3"/>
            <a:endCxn id="35" idx="1"/>
          </p:cNvCxnSpPr>
          <p:nvPr/>
        </p:nvCxnSpPr>
        <p:spPr>
          <a:xfrm flipV="1">
            <a:off x="8729775" y="5656114"/>
            <a:ext cx="1056058" cy="2119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5AC124AB-98ED-6EC9-4767-09436555AAE1}"/>
              </a:ext>
            </a:extLst>
          </p:cNvPr>
          <p:cNvSpPr txBox="1"/>
          <p:nvPr/>
        </p:nvSpPr>
        <p:spPr>
          <a:xfrm>
            <a:off x="9853635" y="64029"/>
            <a:ext cx="2233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Procedure mapping</a:t>
            </a:r>
          </a:p>
        </p:txBody>
      </p:sp>
    </p:spTree>
    <p:extLst>
      <p:ext uri="{BB962C8B-B14F-4D97-AF65-F5344CB8AC3E}">
        <p14:creationId xmlns:p14="http://schemas.microsoft.com/office/powerpoint/2010/main" val="259928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677</Words>
  <Application>Microsoft Macintosh PowerPoint</Application>
  <PresentationFormat>Widescreen</PresentationFormat>
  <Paragraphs>114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Martijn Schuemie</dc:creator>
  <cp:lastModifiedBy>Martijn Schuemie</cp:lastModifiedBy>
  <cp:revision>32</cp:revision>
  <dcterms:created xsi:type="dcterms:W3CDTF">2025-12-11T07:11:36Z</dcterms:created>
  <dcterms:modified xsi:type="dcterms:W3CDTF">2026-04-17T06:21:56Z</dcterms:modified>
</cp:coreProperties>
</file>